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301" r:id="rId4"/>
    <p:sldId id="258" r:id="rId5"/>
    <p:sldId id="259" r:id="rId6"/>
    <p:sldId id="302" r:id="rId7"/>
    <p:sldId id="260" r:id="rId8"/>
    <p:sldId id="261" r:id="rId9"/>
    <p:sldId id="315" r:id="rId10"/>
    <p:sldId id="303" r:id="rId11"/>
    <p:sldId id="317" r:id="rId12"/>
    <p:sldId id="264" r:id="rId13"/>
    <p:sldId id="304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65" r:id="rId26"/>
    <p:sldId id="266" r:id="rId27"/>
    <p:sldId id="267" r:id="rId28"/>
    <p:sldId id="269" r:id="rId29"/>
    <p:sldId id="274" r:id="rId30"/>
    <p:sldId id="275" r:id="rId31"/>
    <p:sldId id="276" r:id="rId32"/>
    <p:sldId id="316" r:id="rId33"/>
    <p:sldId id="306" r:id="rId34"/>
    <p:sldId id="309" r:id="rId35"/>
    <p:sldId id="310" r:id="rId36"/>
    <p:sldId id="311" r:id="rId37"/>
    <p:sldId id="318" r:id="rId38"/>
    <p:sldId id="312" r:id="rId39"/>
    <p:sldId id="313" r:id="rId40"/>
    <p:sldId id="299" r:id="rId41"/>
    <p:sldId id="308" r:id="rId42"/>
    <p:sldId id="314" r:id="rId43"/>
    <p:sldId id="278" r:id="rId44"/>
    <p:sldId id="280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2D3D"/>
    <a:srgbClr val="2A4158"/>
    <a:srgbClr val="5B6472"/>
    <a:srgbClr val="94BCE3"/>
    <a:srgbClr val="F2F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821" autoAdjust="0"/>
    <p:restoredTop sz="94382" autoAdjust="0"/>
  </p:normalViewPr>
  <p:slideViewPr>
    <p:cSldViewPr snapToGrid="0" snapToObjects="1">
      <p:cViewPr>
        <p:scale>
          <a:sx n="110" d="100"/>
          <a:sy n="110" d="100"/>
        </p:scale>
        <p:origin x="112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948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i="0" dirty="0">
              <a:solidFill>
                <a:srgbClr val="5B6472"/>
              </a:solidFill>
              <a:latin typeface="Pretendard Variable"/>
            </a:endParaRPr>
          </a:p>
        </p:txBody>
      </p:sp>
    </p:spTree>
    <p:extLst>
      <p:ext uri="{BB962C8B-B14F-4D97-AF65-F5344CB8AC3E}">
        <p14:creationId xmlns:p14="http://schemas.microsoft.com/office/powerpoint/2010/main" val="19472249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Pretendard Variable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Pretendard Variable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Pretendard Variable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Pretendard Variable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Pretendard Variable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Pretendard Variable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Pretendard Variable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Pretendard Variable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Pretendard Variable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4BCE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K - D I G I T A L   T R A I N I N G   ·   G O O R M</a:t>
            </a:r>
            <a:endParaRPr lang="en-US" sz="11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777240" y="1867256"/>
            <a:ext cx="9144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2F2F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Re:Seat</a:t>
            </a:r>
            <a:endParaRPr lang="en-US" sz="8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32104" y="3132511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2DE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KBO 야구 경기 좌석 예매 플랫폼</a:t>
            </a:r>
            <a:endParaRPr lang="en-US" sz="17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32104" y="356255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8A6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3차(최종) 프로젝트 결과 발표 — 성능 실측과 신규 기능</a:t>
            </a:r>
            <a:endParaRPr lang="en-US" sz="13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4480560"/>
            <a:ext cx="250317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40664" y="4352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243834" y="4352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40664" y="59070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243834" y="5943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24128" y="4700016"/>
            <a:ext cx="21008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A3A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기간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024128" y="4992624"/>
            <a:ext cx="2100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2026.06.25 ~ 09.16</a:t>
            </a:r>
            <a:endParaRPr lang="en-US" sz="15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24128" y="5358384"/>
            <a:ext cx="21008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1차~3차, 총 12주</a:t>
            </a:r>
            <a:endParaRPr lang="en-US" sz="105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38294" y="4480560"/>
            <a:ext cx="250317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755998" y="4352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259168" y="4352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755998" y="5943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259168" y="5943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039462" y="4700016"/>
            <a:ext cx="21008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A3A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3차 기간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039462" y="4992624"/>
            <a:ext cx="2100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2026.08.04 ~ 09.16</a:t>
            </a:r>
            <a:endParaRPr lang="en-US" sz="15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039462" y="5358384"/>
            <a:ext cx="21008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약 6주</a:t>
            </a:r>
            <a:endParaRPr lang="en-US" sz="105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853628" y="4480560"/>
            <a:ext cx="451541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771332" y="4352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1268456" y="4352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771332" y="5943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11277600" y="5943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7054796" y="4700016"/>
            <a:ext cx="21008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A3A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팀 구성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054796" y="4992624"/>
            <a:ext cx="2100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TEAM 3조</a:t>
            </a:r>
            <a:endParaRPr lang="en-US" sz="15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054796" y="5358384"/>
            <a:ext cx="41130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5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Back-To-Back</a:t>
            </a:r>
            <a:r>
              <a:rPr lang="en-US" altLang="ko-KR" sz="105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en-US" altLang="ko-KR" sz="105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· 5인                 </a:t>
            </a:r>
            <a:r>
              <a:rPr lang="ko-KR" altLang="en-US" sz="1050" b="1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전윤현</a:t>
            </a:r>
            <a:r>
              <a:rPr lang="en-US" altLang="ko-KR" sz="105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</a:t>
            </a:r>
            <a:r>
              <a:rPr lang="ko-KR" altLang="en-US" sz="105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팀장</a:t>
            </a:r>
            <a:r>
              <a:rPr lang="en-US" altLang="ko-KR" sz="105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), </a:t>
            </a:r>
            <a:r>
              <a:rPr lang="ko-KR" altLang="en-US" sz="105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김재환</a:t>
            </a:r>
            <a:r>
              <a:rPr lang="en-US" altLang="ko-KR" sz="105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105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박현수</a:t>
            </a:r>
            <a:r>
              <a:rPr lang="en-US" altLang="ko-KR" sz="105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105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유명인</a:t>
            </a:r>
            <a:r>
              <a:rPr lang="en-US" altLang="ko-KR" sz="105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105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조하린</a:t>
            </a:r>
            <a:endParaRPr lang="en-US" altLang="ko-KR" sz="105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9457382" y="4352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61999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D3D"/>
                </a:solidFill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목차</a:t>
            </a:r>
            <a:endParaRPr lang="en-US" sz="3600" dirty="0">
              <a:solidFill>
                <a:srgbClr val="1D2D3D"/>
              </a:solidFill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1792659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362A"/>
                </a:solidFill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01</a:t>
            </a:r>
            <a:endParaRPr lang="en-US" sz="240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600200" y="1792659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프로젝트 개요</a:t>
            </a:r>
            <a:endParaRPr lang="en-US" sz="200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983480" y="1829235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6C2"/>
                </a:solidFill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프로젝트 소개 · 3차 범위와 우선순위</a:t>
            </a:r>
            <a:endParaRPr lang="en-US" sz="115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542467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362A"/>
                </a:solidFill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02</a:t>
            </a:r>
            <a:endParaRPr lang="en-US" sz="240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600200" y="2542467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팀 구성 및 역할</a:t>
            </a:r>
            <a:endParaRPr lang="en-US" sz="200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983480" y="2579043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6C2"/>
                </a:solidFill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도메인별 담당(A~E) · 공통 협업 규칙</a:t>
            </a:r>
            <a:endParaRPr lang="en-US" sz="115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3292275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362A"/>
                </a:solidFill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03</a:t>
            </a:r>
            <a:endParaRPr lang="en-US" sz="240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600200" y="3292275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수행 절차 및 방법</a:t>
            </a:r>
            <a:endParaRPr lang="en-US" sz="200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983480" y="3328851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6C2"/>
                </a:solidFill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3차 일정 · 진행 순서 · 리스크 관리</a:t>
            </a:r>
            <a:endParaRPr lang="en-US" sz="115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960" y="4042083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362A"/>
                </a:solidFill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04</a:t>
            </a:r>
            <a:endParaRPr lang="en-US" sz="240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600200" y="4042083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수행 결과</a:t>
            </a:r>
            <a:endParaRPr lang="en-US" sz="200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983480" y="4078659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6C2"/>
                </a:solidFill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서비스 흐름 · Admin 페이지 · A~E 도메인 구현</a:t>
            </a:r>
            <a:endParaRPr lang="en-US" sz="115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4791891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362A"/>
                </a:solidFill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05</a:t>
            </a:r>
            <a:endParaRPr lang="en-US" sz="240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822960" y="5541699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362A"/>
                </a:solidFill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06</a:t>
            </a:r>
            <a:endParaRPr lang="en-US" sz="240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600200" y="4791891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테스트 · 검증 결과</a:t>
            </a:r>
            <a:endParaRPr lang="en-US" sz="200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1600200" y="5541699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자체 평가 의견</a:t>
            </a:r>
            <a:endParaRPr lang="en-US" sz="200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983480" y="4828467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6C2"/>
                </a:solidFill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Queue · 좌석 선점 · 예매 상태 · 결제 — k6 성능 및 동시성 검증</a:t>
            </a:r>
            <a:endParaRPr lang="en-US" sz="115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4983480" y="5541699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6C2"/>
                </a:solidFill>
                <a:latin typeface="Pretendard Variable" panose="020F0502020204030204" pitchFamily="34" charset="0"/>
                <a:ea typeface="Pretendard Variable" panose="020F0502020204030204" pitchFamily="34" charset="0"/>
                <a:cs typeface="Pretendard Variable" panose="020F0502020204030204" pitchFamily="34" charset="0"/>
              </a:rPr>
              <a:t>잘한 점 · 아쉬운 점 · 향후 계획</a:t>
            </a:r>
            <a:endParaRPr lang="en-US" sz="1150" dirty="0">
              <a:latin typeface="Pretendard Variable" panose="020F0502020204030204" pitchFamily="34" charset="0"/>
              <a:ea typeface="Pretendard Variable" panose="020F0502020204030204" pitchFamily="34" charset="0"/>
              <a:cs typeface="Pretendard Variable" panose="020F0502020204030204" pitchFamily="34" charset="0"/>
            </a:endParaRP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6BAD7249-4177-6844-1C4A-D76FE6C42E6B}"/>
              </a:ext>
            </a:extLst>
          </p:cNvPr>
          <p:cNvSpPr/>
          <p:nvPr/>
        </p:nvSpPr>
        <p:spPr>
          <a:xfrm flipV="1">
            <a:off x="506575" y="1371619"/>
            <a:ext cx="11178850" cy="45719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5E263E56-8A7A-B910-A0E3-B3E4FF66F426}"/>
              </a:ext>
            </a:extLst>
          </p:cNvPr>
          <p:cNvSpPr/>
          <p:nvPr/>
        </p:nvSpPr>
        <p:spPr>
          <a:xfrm flipV="1">
            <a:off x="570371" y="6291507"/>
            <a:ext cx="11178850" cy="45719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41500"/>
            <a:ext cx="12070080" cy="1587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71304"/>
              </a:lnSpc>
            </a:pPr>
            <a:r>
              <a:rPr lang="en-US" sz="15001" b="1" kern="0" spc="-450" dirty="0">
                <a:solidFill>
                  <a:srgbClr val="94BCE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5001" dirty="0">
              <a:solidFill>
                <a:srgbClr val="94BCE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3577977"/>
            <a:ext cx="10996246" cy="76502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97473"/>
              </a:lnSpc>
            </a:pPr>
            <a:r>
              <a:rPr lang="en-US" sz="5200" b="1" kern="0" spc="-52" dirty="0">
                <a:solidFill>
                  <a:srgbClr val="F2F2F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프로젝트 개요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609600" y="4495404"/>
            <a:ext cx="1778000" cy="6350"/>
          </a:xfrm>
          <a:prstGeom prst="rect">
            <a:avLst/>
          </a:prstGeom>
          <a:solidFill>
            <a:srgbClr val="749DC4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5" name="Text 3"/>
          <p:cNvSpPr/>
          <p:nvPr/>
        </p:nvSpPr>
        <p:spPr>
          <a:xfrm>
            <a:off x="609600" y="4679553"/>
            <a:ext cx="7683500" cy="3403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34054"/>
              </a:lnSpc>
            </a:pPr>
            <a:r>
              <a:rPr lang="en-US" sz="1600" dirty="0">
                <a:solidFill>
                  <a:srgbClr val="B5D9F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프로젝트 소개 · 주제 및 선정 배경 · 기대 효과 · 활용 장비 및 재료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01  </a:t>
            </a:r>
            <a:r>
              <a:rPr 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프로젝트 개요</a:t>
            </a:r>
            <a:endParaRPr lang="en-US" sz="14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프로젝트 소개</a:t>
            </a:r>
            <a:endParaRPr lang="en-US" sz="11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34898" y="1103765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한 줄 정리</a:t>
            </a:r>
            <a:endParaRPr lang="en-US" sz="11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18347" y="1367028"/>
            <a:ext cx="110787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공정한 대기 → 안전한 좌석 선점 → 신뢰할 수 있는 결과를 하나의 흐름으로 제공하는 티켓팅 플랫폼</a:t>
            </a:r>
            <a:endParaRPr lang="en-US" sz="2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9770" y="2263140"/>
            <a:ext cx="360669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97474" y="21351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004172" y="21351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97474" y="42839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004172" y="42839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80938" y="2482596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A3A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서비스 정의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80938" y="2775204"/>
            <a:ext cx="32043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무엇을 하는가</a:t>
            </a:r>
            <a:endParaRPr lang="en-US" sz="16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80938" y="3186684"/>
            <a:ext cx="320436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 오픈 시점의 접속 혼잡, 좌석 중복 선점, 암표 거래 문제를 줄여 팬이 정해진 절차 안에서 안정적으로 티켓을 예매하게 한다.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24655" y="2263140"/>
            <a:ext cx="360669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242359" y="21351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849058" y="21351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242359" y="42839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849058" y="42839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525823" y="2482596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A3A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핵심 가치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525823" y="2775204"/>
            <a:ext cx="32043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무엇을 지키는가</a:t>
            </a:r>
            <a:endParaRPr lang="en-US" sz="16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525823" y="3186684"/>
            <a:ext cx="320436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순간 트래픽 급증에도 요청을 대기열로 흡수해 안정적으로 처리하고, 대기열과 분산 락으로 1인 1좌석의 정합성을 보장한다.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087244" y="2263140"/>
            <a:ext cx="360669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004948" y="21351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1611646" y="21351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8004948" y="42839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11611646" y="42839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288412" y="2482596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A3A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주요 대상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8288412" y="2775204"/>
            <a:ext cx="32043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누구를</a:t>
            </a:r>
            <a:r>
              <a:rPr lang="en-US" sz="15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위</a:t>
            </a:r>
            <a:r>
              <a:rPr lang="ko-KR" altLang="en-US" sz="15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하는</a:t>
            </a:r>
            <a:r>
              <a:rPr lang="en-US" sz="15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가</a:t>
            </a:r>
            <a:endParaRPr lang="en-US" sz="15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8288412" y="3186684"/>
            <a:ext cx="320436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인기 KBO 경기를 직접 예매해야 하지만 오픈 시점의 혼잡과 빠른 매진으로 반복적으로 실패하는 야구 팬.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78648" y="466798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기대 효과</a:t>
            </a:r>
            <a:endParaRPr lang="en-US" sz="11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478648" y="506904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01</a:t>
            </a:r>
            <a:endParaRPr lang="en-US" sz="14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045576" y="4994968"/>
            <a:ext cx="106967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기술 ·  </a:t>
            </a:r>
            <a:r>
              <a:rPr lang="en-US" sz="12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락 트레이드오프(성능·데드락·정합성)를 체득하고 분산락 효과를 수치로 확인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478648" y="563597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02</a:t>
            </a:r>
            <a:endParaRPr lang="en-US" sz="14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1045576" y="5567394"/>
            <a:ext cx="106967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서비스 ·  </a:t>
            </a:r>
            <a:r>
              <a:rPr lang="en-US" sz="12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대기열 우회·중복 예매 제한, 본인인증부터 티켓 발급까지 이어지는 유통 구조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</a:t>
            </a:r>
            <a:endParaRPr lang="en-US" sz="9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0" name="Shape 0">
            <a:extLst>
              <a:ext uri="{FF2B5EF4-FFF2-40B4-BE49-F238E27FC236}">
                <a16:creationId xmlns:a16="http://schemas.microsoft.com/office/drawing/2014/main" id="{14FD064D-AE98-CAE1-2E84-02B8E2468D47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0AB8C969-BF7F-BFFC-4609-696D77F29478}"/>
              </a:ext>
            </a:extLst>
          </p:cNvPr>
          <p:cNvSpPr/>
          <p:nvPr/>
        </p:nvSpPr>
        <p:spPr>
          <a:xfrm>
            <a:off x="441066" y="1024058"/>
            <a:ext cx="10800" cy="900000"/>
          </a:xfrm>
          <a:prstGeom prst="rect">
            <a:avLst/>
          </a:prstGeom>
          <a:solidFill>
            <a:srgbClr val="5980A6"/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88D09D5C-B6E1-29CF-79F5-7A3B3B2D9AEF}"/>
              </a:ext>
            </a:extLst>
          </p:cNvPr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Re:Seat · 3차(최종) 프로젝트 발표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97399" y="90831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3차 목표 — </a:t>
            </a:r>
            <a:r>
              <a:rPr lang="ko-KR" altLang="en-US" sz="28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신뢰할 수 있는 예매 사이트</a:t>
            </a:r>
            <a:endParaRPr lang="en-US" sz="2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97398" y="1449324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1·2차에서 완성한 예매 파이프라인 위에, 3차는 정합성·성능을 수치로 증명하고 운영에 필요한 기능을 채우는 데 집중합니다.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360669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20624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027322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20624" y="3712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027322" y="3712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85800" y="2093976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</a:t>
            </a:r>
            <a:endParaRPr lang="en-US" sz="24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04088" y="2596896"/>
            <a:ext cx="320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1순위</a:t>
            </a:r>
            <a:endParaRPr lang="en-US" sz="135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04088" y="2962656"/>
            <a:ext cx="3204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없으면 예매 흐름이 성립하지 않거나 설계 논리·정합성을 증명할 수 없는 기능</a:t>
            </a:r>
            <a:endParaRPr lang="en-US" sz="105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04088" y="3474720"/>
            <a:ext cx="3204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4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1차 스프린트 (8/20)</a:t>
            </a:r>
            <a:endParaRPr lang="en-US" sz="95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92498" y="1874520"/>
            <a:ext cx="360669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210202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816901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210202" y="3712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816901" y="3712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475378" y="2093976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</a:t>
            </a:r>
            <a:endParaRPr lang="en-US" sz="24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493666" y="2596896"/>
            <a:ext cx="320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2순위</a:t>
            </a:r>
            <a:endParaRPr lang="en-US" sz="135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493666" y="2962656"/>
            <a:ext cx="3204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서비스 완결성과 운영 가시성을 위해 필요한 기능</a:t>
            </a:r>
            <a:endParaRPr lang="en-US" sz="105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4493666" y="3474720"/>
            <a:ext cx="3204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4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2·3차 스프린트 (8/27, 9/3)</a:t>
            </a:r>
            <a:endParaRPr lang="en-US" sz="95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82077" y="1874520"/>
            <a:ext cx="360669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7999781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11606479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7999781" y="3712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1606479" y="3712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+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8264957" y="2093976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</a:t>
            </a:r>
            <a:endParaRPr lang="en-US" sz="24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8283245" y="2596896"/>
            <a:ext cx="320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3순위</a:t>
            </a:r>
            <a:endParaRPr lang="en-US" sz="135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283245" y="2962656"/>
            <a:ext cx="3204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있으면 좋으나 지연 시 축소·제거 가능한 기능</a:t>
            </a:r>
            <a:endParaRPr lang="en-US" sz="105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283245" y="3474720"/>
            <a:ext cx="3204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4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4차 스프린트 (9/10)</a:t>
            </a:r>
            <a:endParaRPr lang="en-US" sz="95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5029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3차 검증 목표</a:t>
            </a:r>
            <a:endParaRPr lang="en-US" sz="11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465594"/>
              </p:ext>
            </p:extLst>
          </p:nvPr>
        </p:nvGraphicFramePr>
        <p:xfrm>
          <a:off x="502920" y="4434840"/>
          <a:ext cx="11185855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2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목표</a:t>
                      </a:r>
                      <a:endParaRPr lang="en-US" sz="105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내용</a:t>
                      </a:r>
                      <a:endParaRPr lang="en-US" sz="105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좌석 병렬성</a:t>
                      </a:r>
                      <a:endParaRPr lang="en-US" sz="10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서로 다른 좌석 요청이 전역 락으로 직렬화되지 않음</a:t>
                      </a:r>
                      <a:endParaRPr lang="en-US" sz="10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대기열 공정성 · 결제 정합성</a:t>
                      </a:r>
                      <a:endParaRPr lang="en-US" sz="10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Queue-Token·CAPTCHA 미통과 접근 차단 / 중복 승인 없이 실패·취소·환불 결과 일관</a:t>
                      </a:r>
                      <a:endParaRPr lang="en-US" sz="10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환불 정합성 · 수량 제한</a:t>
                      </a:r>
                      <a:endParaRPr lang="en-US" sz="10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PG 취소 성공 후 DB 반영 실패해도 이중 환불 0건 / 누적 2매 초과 0건</a:t>
                      </a:r>
                      <a:endParaRPr lang="en-US" sz="10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운영 가시성</a:t>
                      </a:r>
                      <a:endParaRPr lang="en-US" sz="10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핵심 흐름의 지연·오류율·처리량·자원 상태를 조회하고 알림을 받을 수 있음</a:t>
                      </a:r>
                      <a:endParaRPr lang="en-US" sz="10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Text 33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</a:t>
            </a:r>
            <a:endParaRPr lang="en-US" sz="85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8" name="Text 0">
            <a:extLst>
              <a:ext uri="{FF2B5EF4-FFF2-40B4-BE49-F238E27FC236}">
                <a16:creationId xmlns:a16="http://schemas.microsoft.com/office/drawing/2014/main" id="{CB20FBE6-9353-55C2-7B7A-30DB09667F4E}"/>
              </a:ext>
            </a:extLst>
          </p:cNvPr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01  </a:t>
            </a:r>
            <a:r>
              <a:rPr 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프로젝트 개요</a:t>
            </a:r>
            <a:endParaRPr lang="en-US" sz="14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F8697B78-CA32-E802-9F91-6CFB3C6245A7}"/>
              </a:ext>
            </a:extLst>
          </p:cNvPr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</a:t>
            </a:r>
            <a:r>
              <a:rPr lang="ko-KR" altLang="en-US" sz="11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차 우선순위</a:t>
            </a:r>
            <a:endParaRPr lang="en-US" sz="11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2" name="Shape 0">
            <a:extLst>
              <a:ext uri="{FF2B5EF4-FFF2-40B4-BE49-F238E27FC236}">
                <a16:creationId xmlns:a16="http://schemas.microsoft.com/office/drawing/2014/main" id="{1442C06E-FE4F-0BCA-EA00-F7DFC2DCE3F3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B4C9A173-8B09-97B0-1E0E-1023CE7DF3B9}"/>
              </a:ext>
            </a:extLst>
          </p:cNvPr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Re:Seat · 3차(최종) 프로젝트 발표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63477"/>
            <a:ext cx="12070080" cy="1587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71304"/>
              </a:lnSpc>
            </a:pPr>
            <a:r>
              <a:rPr lang="en-US" sz="15001" b="1" kern="0" spc="-450" dirty="0">
                <a:solidFill>
                  <a:srgbClr val="94BCE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15001" dirty="0"/>
          </a:p>
        </p:txBody>
      </p:sp>
      <p:sp>
        <p:nvSpPr>
          <p:cNvPr id="3" name="Text 1"/>
          <p:cNvSpPr/>
          <p:nvPr/>
        </p:nvSpPr>
        <p:spPr>
          <a:xfrm>
            <a:off x="609600" y="3577977"/>
            <a:ext cx="12070080" cy="76502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97473"/>
              </a:lnSpc>
            </a:pPr>
            <a:r>
              <a:rPr lang="en-US" sz="5200" b="1" kern="0" spc="-52" dirty="0">
                <a:solidFill>
                  <a:srgbClr val="F2F2F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프로젝트 팀 구성 및 역할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609600" y="4495404"/>
            <a:ext cx="1778000" cy="6350"/>
          </a:xfrm>
          <a:prstGeom prst="rect">
            <a:avLst/>
          </a:prstGeom>
          <a:solidFill>
            <a:srgbClr val="749DC4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5" name="Text 3"/>
          <p:cNvSpPr/>
          <p:nvPr/>
        </p:nvSpPr>
        <p:spPr>
          <a:xfrm>
            <a:off x="609600" y="4679553"/>
            <a:ext cx="12070080" cy="3403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34054"/>
              </a:lnSpc>
            </a:pPr>
            <a:r>
              <a:rPr lang="en-US" sz="1600" dirty="0">
                <a:solidFill>
                  <a:srgbClr val="B5D9F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5인 · 도메인 단위로 나눈 담당 업무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97397" y="1044614"/>
            <a:ext cx="11185855" cy="500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2A4158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도메인</a:t>
            </a:r>
            <a:r>
              <a:rPr lang="en-US" sz="3200" b="1" dirty="0">
                <a:solidFill>
                  <a:srgbClr val="2A4158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단위 </a:t>
            </a:r>
            <a:r>
              <a:rPr lang="en-US" sz="3200" b="1" dirty="0" err="1">
                <a:solidFill>
                  <a:srgbClr val="2A4158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분업</a:t>
            </a:r>
            <a:r>
              <a:rPr lang="en-US" sz="3200" b="1" dirty="0">
                <a:solidFill>
                  <a:srgbClr val="2A4158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en-US" sz="3200" b="1" dirty="0" err="1">
                <a:solidFill>
                  <a:srgbClr val="2A4158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구조</a:t>
            </a:r>
            <a:endParaRPr lang="en-US" altLang="ko-KR" sz="3200" dirty="0">
              <a:solidFill>
                <a:srgbClr val="2A4158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02920" y="1661057"/>
            <a:ext cx="11185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1차부터 유지해 온 도메인 소유권을 3차에도 그대로 적용해, 각자 자기 도메인의 신뢰성·성능·신규 기능을 책임집니다.</a:t>
            </a:r>
            <a:endParaRPr lang="en-US" sz="11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146133"/>
              </p:ext>
            </p:extLst>
          </p:nvPr>
        </p:nvGraphicFramePr>
        <p:xfrm>
          <a:off x="497398" y="2217271"/>
          <a:ext cx="11185853" cy="3382038"/>
        </p:xfrm>
        <a:graphic>
          <a:graphicData uri="http://schemas.openxmlformats.org/drawingml/2006/table">
            <a:tbl>
              <a:tblPr/>
              <a:tblGrid>
                <a:gridCol w="1781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3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4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7415">
                  <a:extLst>
                    <a:ext uri="{9D8B030D-6E8A-4147-A177-3AD203B41FA5}">
                      <a16:colId xmlns:a16="http://schemas.microsoft.com/office/drawing/2014/main" val="4207660762"/>
                    </a:ext>
                  </a:extLst>
                </a:gridCol>
              </a:tblGrid>
              <a:tr h="5636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구분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1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소유 도메인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1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주요 역할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1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담당자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1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6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A. 인증·사용자·인프라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User, Verification, Infra, </a:t>
                      </a:r>
                      <a:r>
                        <a:rPr lang="en-US" sz="120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Citydata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인증·인가, 회원 관리, 배포·운영 환경, 외부 API(날씨·지도) 연동, 모니터링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김재환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6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B. 대기열·주문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Queue, Order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진입 게이트, 대기열, SSE, 입장 토큰, </a:t>
                      </a:r>
                      <a:r>
                        <a:rPr lang="en-US" sz="120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주문</a:t>
                      </a: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상태·만료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 err="1"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전윤현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6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C. 경기·좌석·예약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Game, Stadium, Team,</a:t>
                      </a:r>
                      <a:b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</a:br>
                      <a:r>
                        <a:rPr lang="en-US" sz="120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SeatInventory</a:t>
                      </a: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, Reservation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경기·좌석 조회, 좌석 HOLD·해제·만료, 동시성 제어와 락 </a:t>
                      </a:r>
                      <a:r>
                        <a:rPr lang="en-US" sz="120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전략</a:t>
                      </a: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비교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조하린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6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D. 결제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Payment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Toss Payments, 멱등 승인, 부분·전체 환불, 취소 이력 관리, PG 복구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박현수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6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E. 티켓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Ticket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티켓 발급·상태 관리, QR 검표, 마이페이지 통합 조회, 관리자 조회·강제 취소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유명인</a:t>
                      </a:r>
                      <a:endParaRPr lang="en-US" sz="1200" dirty="0"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0">
            <a:extLst>
              <a:ext uri="{FF2B5EF4-FFF2-40B4-BE49-F238E27FC236}">
                <a16:creationId xmlns:a16="http://schemas.microsoft.com/office/drawing/2014/main" id="{E3395CE2-88CF-743E-CF8F-6C6F96078BDD}"/>
              </a:ext>
            </a:extLst>
          </p:cNvPr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02 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팀 구성 및 역할</a:t>
            </a:r>
            <a:endParaRPr lang="en-US" sz="14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DB194B60-2B84-4F91-CC59-FBC6AF04A8F3}"/>
              </a:ext>
            </a:extLst>
          </p:cNvPr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도메인 구성</a:t>
            </a:r>
            <a:endParaRPr lang="en-US" sz="11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5455D81B-FC59-A112-A738-6919FD3C4892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Text 34">
            <a:extLst>
              <a:ext uri="{FF2B5EF4-FFF2-40B4-BE49-F238E27FC236}">
                <a16:creationId xmlns:a16="http://schemas.microsoft.com/office/drawing/2014/main" id="{3E411EA8-2D07-1E67-3817-38DF76C21A74}"/>
              </a:ext>
            </a:extLst>
          </p:cNvPr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</a:t>
            </a:r>
            <a:endParaRPr lang="en-US" sz="9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007667C5-E830-28E1-8C08-1AB4F885DFA8}"/>
              </a:ext>
            </a:extLst>
          </p:cNvPr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Re:Seat · 3차(최종) 프로젝트 발표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02920" y="109626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7907"/>
              </a:lnSpc>
            </a:pPr>
            <a:r>
              <a:rPr lang="en-US" altLang="ko-KR" sz="3200" b="1" kern="0" spc="-74" dirty="0" err="1">
                <a:solidFill>
                  <a:srgbClr val="2A4158"/>
                </a:solidFill>
                <a:latin typeface="Pretendard Variable" panose="02000703000000020004" pitchFamily="50" charset="-127"/>
                <a:ea typeface="Pretendard Variable" panose="02000703000000020004" pitchFamily="50" charset="-127"/>
                <a:cs typeface="Pretendard Variable" panose="02000703000000020004" pitchFamily="50" charset="-127"/>
              </a:rPr>
              <a:t>개발</a:t>
            </a:r>
            <a:r>
              <a:rPr lang="en-US" altLang="ko-KR" sz="3200" b="1" kern="0" spc="-74" dirty="0">
                <a:solidFill>
                  <a:srgbClr val="2A4158"/>
                </a:solidFill>
                <a:latin typeface="Pretendard Variable" panose="02000703000000020004" pitchFamily="50" charset="-127"/>
                <a:ea typeface="Pretendard Variable" panose="02000703000000020004" pitchFamily="50" charset="-127"/>
                <a:cs typeface="Pretendard Variable" panose="02000703000000020004" pitchFamily="50" charset="-127"/>
              </a:rPr>
              <a:t> </a:t>
            </a:r>
            <a:r>
              <a:rPr lang="en-US" altLang="ko-KR" sz="3200" b="1" kern="0" spc="-74" dirty="0" err="1">
                <a:solidFill>
                  <a:srgbClr val="2A4158"/>
                </a:solidFill>
                <a:latin typeface="Pretendard Variable" panose="02000703000000020004" pitchFamily="50" charset="-127"/>
                <a:ea typeface="Pretendard Variable" panose="02000703000000020004" pitchFamily="50" charset="-127"/>
                <a:cs typeface="Pretendard Variable" panose="02000703000000020004" pitchFamily="50" charset="-127"/>
              </a:rPr>
              <a:t>프로세스</a:t>
            </a:r>
            <a:r>
              <a:rPr lang="en-US" altLang="ko-KR" sz="3200" b="1" kern="0" spc="-74" dirty="0">
                <a:solidFill>
                  <a:srgbClr val="2A4158"/>
                </a:solidFill>
                <a:latin typeface="Pretendard Variable" panose="02000703000000020004" pitchFamily="50" charset="-127"/>
                <a:ea typeface="Pretendard Variable" panose="02000703000000020004" pitchFamily="50" charset="-127"/>
                <a:cs typeface="Pretendard Variable" panose="02000703000000020004" pitchFamily="50" charset="-127"/>
              </a:rPr>
              <a:t> 및 </a:t>
            </a:r>
            <a:r>
              <a:rPr lang="en-US" altLang="ko-KR" sz="3200" b="1" kern="0" spc="-74" dirty="0" err="1">
                <a:solidFill>
                  <a:srgbClr val="2A4158"/>
                </a:solidFill>
                <a:latin typeface="Pretendard Variable" panose="02000703000000020004" pitchFamily="50" charset="-127"/>
                <a:ea typeface="Pretendard Variable" panose="02000703000000020004" pitchFamily="50" charset="-127"/>
                <a:cs typeface="Pretendard Variable" panose="02000703000000020004" pitchFamily="50" charset="-127"/>
              </a:rPr>
              <a:t>협업</a:t>
            </a:r>
            <a:r>
              <a:rPr lang="en-US" altLang="ko-KR" sz="3200" b="1" kern="0" spc="-74" dirty="0">
                <a:solidFill>
                  <a:srgbClr val="2A4158"/>
                </a:solidFill>
                <a:latin typeface="Pretendard Variable" panose="02000703000000020004" pitchFamily="50" charset="-127"/>
                <a:ea typeface="Pretendard Variable" panose="02000703000000020004" pitchFamily="50" charset="-127"/>
                <a:cs typeface="Pretendard Variable" panose="02000703000000020004" pitchFamily="50" charset="-127"/>
              </a:rPr>
              <a:t> </a:t>
            </a:r>
            <a:r>
              <a:rPr lang="en-US" altLang="ko-KR" sz="3200" b="1" kern="0" spc="-74" dirty="0" err="1">
                <a:solidFill>
                  <a:srgbClr val="2A4158"/>
                </a:solidFill>
                <a:latin typeface="Pretendard Variable" panose="02000703000000020004" pitchFamily="50" charset="-127"/>
                <a:ea typeface="Pretendard Variable" panose="02000703000000020004" pitchFamily="50" charset="-127"/>
                <a:cs typeface="Pretendard Variable" panose="02000703000000020004" pitchFamily="50" charset="-127"/>
              </a:rPr>
              <a:t>규칙</a:t>
            </a:r>
            <a:endParaRPr lang="en-US" altLang="ko-KR" sz="3200" dirty="0">
              <a:solidFill>
                <a:srgbClr val="2A4158"/>
              </a:solidFill>
              <a:latin typeface="Pretendard Variable" panose="02000703000000020004" pitchFamily="50" charset="-127"/>
              <a:ea typeface="Pretendard Variable" panose="02000703000000020004" pitchFamily="50" charset="-127"/>
              <a:cs typeface="Pretendard Variable" panose="02000703000000020004" pitchFamily="50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02920" y="199281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코드 리뷰 · 테스트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02920" y="232199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전원 참여, PR 승인 2명 이상 후 Squash merge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2843202"/>
            <a:ext cx="5212080" cy="0"/>
          </a:xfrm>
          <a:prstGeom prst="line">
            <a:avLst/>
          </a:prstGeom>
          <a:noFill/>
          <a:ln w="9525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 sz="12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02920" y="300779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API 문서 · Swagger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02920" y="333697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도메인 담당자 작성, 전원 검토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3858186"/>
            <a:ext cx="5212080" cy="0"/>
          </a:xfrm>
          <a:prstGeom prst="line">
            <a:avLst/>
          </a:prstGeom>
          <a:noFill/>
          <a:ln w="9525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 sz="12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02920" y="402277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ERD · 시스템 구성도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02920" y="435196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변경 도메인 담당자 갱신, 전원 검토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4873170"/>
            <a:ext cx="5212080" cy="0"/>
          </a:xfrm>
          <a:prstGeom prst="line">
            <a:avLst/>
          </a:prstGeom>
          <a:noFill/>
          <a:ln w="9525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 sz="12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02920" y="503776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프론트엔드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02920" y="536694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AI 페어 프로그래밍으로 구현, 담당자가 자기 도메인 화면 연동 검토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46520" y="199281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회의록 · 발표 자료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46520" y="232199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Notion 공동 관리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46520" y="2843202"/>
            <a:ext cx="5212080" cy="0"/>
          </a:xfrm>
          <a:prstGeom prst="line">
            <a:avLst/>
          </a:prstGeom>
          <a:noFill/>
          <a:ln w="9525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 sz="12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446520" y="300779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도메인 간 계약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446520" y="333697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구현 착수 전 Swagger·DTO로 확정 후 병렬 개발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46520" y="3858186"/>
            <a:ext cx="5212080" cy="0"/>
          </a:xfrm>
          <a:prstGeom prst="line">
            <a:avLst/>
          </a:prstGeom>
          <a:noFill/>
          <a:ln w="9525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 sz="12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446520" y="402277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브랜치 전략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446520" y="435196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GitHub Flow — 1이슈=1브랜치=1PR, type/이슈번호-도메인-요약 네이밍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46520" y="4873170"/>
            <a:ext cx="5212080" cy="0"/>
          </a:xfrm>
          <a:prstGeom prst="line">
            <a:avLst/>
          </a:prstGeom>
          <a:noFill/>
          <a:ln w="9525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 sz="12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446520" y="503776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코드 컨벤션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446520" y="536694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Naver HackDay Convention, Spotless 자동 포맷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47F855CA-5742-C223-29E8-C66EE4B33BC7}"/>
              </a:ext>
            </a:extLst>
          </p:cNvPr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02 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팀 구성 및 역할</a:t>
            </a:r>
            <a:endParaRPr lang="en-US" sz="14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776889A7-6D50-4E23-7051-D0823ACFA731}"/>
              </a:ext>
            </a:extLst>
          </p:cNvPr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공통 협업 규칙</a:t>
            </a:r>
            <a:endParaRPr lang="en-US" sz="11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1F5F056E-C479-2B01-CDF8-8ECFD4F156DA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E368FE7D-0B39-5BD4-891A-2FFD613EA68A}"/>
              </a:ext>
            </a:extLst>
          </p:cNvPr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4</a:t>
            </a:r>
            <a:endParaRPr lang="en-US" sz="9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3023B3A5-330D-47AC-2A16-62CFAD3A357F}"/>
              </a:ext>
            </a:extLst>
          </p:cNvPr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Re:Seat · 3차(최종) 프로젝트 발표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63477"/>
            <a:ext cx="12070080" cy="1587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71304"/>
              </a:lnSpc>
            </a:pPr>
            <a:r>
              <a:rPr lang="en-US" sz="15001" b="1" kern="0" spc="-450" dirty="0">
                <a:solidFill>
                  <a:srgbClr val="94BCE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15001" dirty="0"/>
          </a:p>
        </p:txBody>
      </p:sp>
      <p:sp>
        <p:nvSpPr>
          <p:cNvPr id="3" name="Text 1"/>
          <p:cNvSpPr/>
          <p:nvPr/>
        </p:nvSpPr>
        <p:spPr>
          <a:xfrm>
            <a:off x="609600" y="3577977"/>
            <a:ext cx="12070080" cy="76502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97473"/>
              </a:lnSpc>
            </a:pPr>
            <a:r>
              <a:rPr lang="ko-KR" altLang="en-US" sz="5200" b="1" kern="0" spc="-52" dirty="0">
                <a:solidFill>
                  <a:srgbClr val="F2F2F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프로젝트 수행 절차 및 방법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609600" y="4495404"/>
            <a:ext cx="1778000" cy="6350"/>
          </a:xfrm>
          <a:prstGeom prst="rect">
            <a:avLst/>
          </a:prstGeom>
          <a:solidFill>
            <a:srgbClr val="749DC4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5" name="Text 3"/>
          <p:cNvSpPr/>
          <p:nvPr/>
        </p:nvSpPr>
        <p:spPr>
          <a:xfrm>
            <a:off x="609600" y="4679553"/>
            <a:ext cx="12070080" cy="3403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34054"/>
              </a:lnSpc>
            </a:pPr>
            <a:r>
              <a:rPr lang="en-US" sz="1600" dirty="0">
                <a:solidFill>
                  <a:srgbClr val="B5D9F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3차 일정 · 진행 순서 · 리스크 관리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09600" y="1183630"/>
            <a:ext cx="12070080" cy="49475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97907"/>
              </a:lnSpc>
            </a:pPr>
            <a:r>
              <a:rPr lang="en-US" sz="3300" b="1" kern="0" spc="-49" dirty="0">
                <a:solidFill>
                  <a:srgbClr val="1D1F2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수행 일정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09600" y="1843485"/>
            <a:ext cx="5295900" cy="927695"/>
          </a:xfrm>
          <a:prstGeom prst="rect">
            <a:avLst/>
          </a:prstGeom>
          <a:gradFill rotWithShape="1">
            <a:gsLst>
              <a:gs pos="0">
                <a:srgbClr val="1D1F21">
                  <a:alpha val="52000"/>
                </a:srgbClr>
              </a:gs>
              <a:gs pos="100000">
                <a:srgbClr val="1D1F21">
                  <a:alpha val="52000"/>
                </a:srgbClr>
              </a:gs>
            </a:gsLst>
            <a:lin ang="5400000" scaled="0"/>
          </a:gradFill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43485"/>
            <a:ext cx="5295900" cy="9276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86500" y="1843485"/>
            <a:ext cx="5295900" cy="927695"/>
          </a:xfrm>
          <a:prstGeom prst="rect">
            <a:avLst/>
          </a:prstGeom>
          <a:gradFill rotWithShape="1">
            <a:gsLst>
              <a:gs pos="0">
                <a:srgbClr val="1D1F21">
                  <a:alpha val="52000"/>
                </a:srgbClr>
              </a:gs>
              <a:gs pos="100000">
                <a:srgbClr val="1D1F21">
                  <a:alpha val="52000"/>
                </a:srgbClr>
              </a:gs>
            </a:gsLst>
            <a:lin ang="5400000" scaled="0"/>
          </a:gradFill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43485"/>
            <a:ext cx="5295900" cy="92769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9600" y="3114080"/>
            <a:ext cx="5295900" cy="2200473"/>
          </a:xfrm>
          <a:prstGeom prst="rect">
            <a:avLst/>
          </a:prstGeom>
          <a:gradFill rotWithShape="1">
            <a:gsLst>
              <a:gs pos="0">
                <a:srgbClr val="1D1F21">
                  <a:alpha val="52000"/>
                </a:srgbClr>
              </a:gs>
              <a:gs pos="100000">
                <a:srgbClr val="1D1F21">
                  <a:alpha val="52000"/>
                </a:srgbClr>
              </a:gs>
            </a:gsLst>
            <a:lin ang="5400000" scaled="0"/>
          </a:gradFill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114080"/>
            <a:ext cx="5295900" cy="2200473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286500" y="3114080"/>
            <a:ext cx="5295900" cy="2466181"/>
          </a:xfrm>
          <a:prstGeom prst="rect">
            <a:avLst/>
          </a:prstGeom>
          <a:gradFill rotWithShape="1">
            <a:gsLst>
              <a:gs pos="0">
                <a:srgbClr val="1D1F21">
                  <a:alpha val="52000"/>
                </a:srgbClr>
              </a:gs>
              <a:gs pos="100000">
                <a:srgbClr val="1D1F21">
                  <a:alpha val="52000"/>
                </a:srgbClr>
              </a:gs>
            </a:gsLst>
            <a:lin ang="5400000" scaled="0"/>
          </a:gradFill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114080"/>
            <a:ext cx="5295900" cy="2466181"/>
          </a:xfrm>
          <a:prstGeom prst="rect">
            <a:avLst/>
          </a:prstGeom>
        </p:spPr>
      </p:pic>
      <p:sp>
        <p:nvSpPr>
          <p:cNvPr id="14" name="Text 0">
            <a:extLst>
              <a:ext uri="{FF2B5EF4-FFF2-40B4-BE49-F238E27FC236}">
                <a16:creationId xmlns:a16="http://schemas.microsoft.com/office/drawing/2014/main" id="{33598768-C94C-4539-E196-6014B379664A}"/>
              </a:ext>
            </a:extLst>
          </p:cNvPr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03 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수행 절차 및 방법</a:t>
            </a:r>
            <a:endParaRPr lang="en-US" sz="14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8D8AC69F-D356-37A8-A5F6-5F19191A2E35}"/>
              </a:ext>
            </a:extLst>
          </p:cNvPr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</a:t>
            </a:r>
            <a:r>
              <a:rPr lang="ko-KR" altLang="en-US" sz="11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차 우선순위</a:t>
            </a:r>
            <a:endParaRPr lang="en-US" sz="11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5CFC8B14-444D-D7DC-023D-68207C0D2D1C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5B6472"/>
                </a:solidFill>
                <a:latin typeface="Pretendard Variable"/>
              </a:rPr>
              <a:t>Re:Seat · 3차(최종) 프로젝트 발표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latin typeface="Pretendard Variable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  </a:t>
            </a:r>
            <a:r>
              <a:rPr lang="en-US" sz="12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수행 절차 및 방법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071055" y="274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3차 수행 일정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3차 일정 — 2026.08.04 ~ 09.16 (약 6주)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492162" y="135331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매 스프린트 종료 시점에 버전을 배포해(v0.1.0 → v0.4.0), 발표 직전까지 회귀 위험을 분산시켰습니다.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824768"/>
              </p:ext>
            </p:extLst>
          </p:nvPr>
        </p:nvGraphicFramePr>
        <p:xfrm>
          <a:off x="502920" y="1874520"/>
          <a:ext cx="11185855" cy="433154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4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0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9C2A21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기간</a:t>
                      </a:r>
                      <a:endParaRPr lang="en-US" sz="98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9C2A21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스프린트</a:t>
                      </a:r>
                      <a:endParaRPr lang="en-US" sz="98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9C2A21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목표</a:t>
                      </a:r>
                      <a:endParaRPr lang="en-US" sz="98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9C2A21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산출물</a:t>
                      </a:r>
                      <a:endParaRPr lang="en-US" sz="98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08.04 ~ 08.08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준비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범위·도메인 계약·API·시간 정책 확정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기획서 v4, Swagger 기준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08.09 ~ 08.25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1차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2차 잔여 부채 마무리, 비활성 테스트 복구, T3-01~08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CI 실행 로그, 버그 리포트, k6 1차 결과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08.26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9C2A21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v0.1.0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티켓 부분 환불·재시도, 결제 부분 취소 이력·복구 구조, 도시데이터·카카오맵 연동, 관리자 예매 상태 전이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GitHub Release Notes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08.27 ~ 09.01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2차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T3-10 모니터링, T3-09 E2E, T3-11 락 3종 비교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E2E 결과, 락 비교 리포트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0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09.02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9C2A21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v0.2.0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좌석 상태 전이 메서드 정비, RedissonConfig 프로필 분리, 티켓·좌석 도메인 리팩토링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GitHub Release Notes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0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09.03 ~ 09.08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3차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T3-12~14 관리자·홈·마이페이지 화면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사용자·관리자 화면, 관리자 API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0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09.09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9C2A21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v0.3.0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v0.2.0에 프론트엔드 개선 반영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GitHub Release Notes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0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09.10 ~ 09.13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4차·버퍼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전체 회귀·부하 재측정, 시연 리허설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성능 리포트, 발표 자료 초안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0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09.15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9C2A21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v0.4.0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관리자 티켓(QR 검표·재발급·일괄 취소), 대기열 지표, 좌석 재고 요약·차단/해제, 취소·재선점 UNIQUE 제약 재설계, 결제·대기열 성능 테스트 스크립트 추가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GitHub Release Notes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77172"/>
                  </a:ext>
                </a:extLst>
              </a:tr>
              <a:tr h="3900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09.14 ~ 09.16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마무리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시연 리허설 최종, 발표 자료 확정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발표 자료, 시연 영상, 최종 발표</a:t>
                      </a:r>
                      <a:endParaRPr lang="en-US" sz="93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Re:Seat · 3차(최종) 프로젝트 발표</a:t>
            </a:r>
            <a:endParaRPr lang="en-US" sz="850" dirty="0"/>
          </a:p>
        </p:txBody>
      </p:sp>
      <p:sp>
        <p:nvSpPr>
          <p:cNvPr id="6" name="Text 5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02920" y="961389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3차 구현 </a:t>
            </a:r>
            <a:r>
              <a:rPr lang="en-US" sz="2800" b="1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기능</a:t>
            </a:r>
            <a:r>
              <a:rPr lang="en-US" sz="28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(T3-01 ~ T3-16)</a:t>
            </a:r>
            <a:endParaRPr lang="en-US" sz="280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093145" y="1295125"/>
            <a:ext cx="3590109" cy="21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이후 슬라이드에서 도메인별로 하나씩 상세 결과를 다룹니다.</a:t>
            </a:r>
            <a:endParaRPr lang="en-US" sz="1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298293"/>
              </p:ext>
            </p:extLst>
          </p:nvPr>
        </p:nvGraphicFramePr>
        <p:xfrm>
          <a:off x="497399" y="1667580"/>
          <a:ext cx="11185855" cy="4510970"/>
        </p:xfrm>
        <a:graphic>
          <a:graphicData uri="http://schemas.openxmlformats.org/drawingml/2006/table">
            <a:tbl>
              <a:tblPr/>
              <a:tblGrid>
                <a:gridCol w="1766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4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10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ID</a:t>
                      </a:r>
                      <a:endParaRPr lang="en-US" sz="14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기능</a:t>
                      </a:r>
                      <a:endParaRPr lang="en-US" sz="14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담당</a:t>
                      </a:r>
                      <a:endParaRPr lang="en-US" sz="14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0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T3-01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예매 흐름 원자성 보강 (Queue-Token 검증만, 선점 실패 시 상태 복구)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B, C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0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T3-02 · T3-03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예매 자격·수량 게이트 / 좌석 취소·재선점 흐름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C, D, E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0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T3-06 · T3-07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부분 환불·티켓 상태 전이 / PG 상태 연동 복구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D, E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0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T3-08 · T3-09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사용자 티켓·입장(QR) 연동 / 실제 E2E 연동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E, 공통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0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T3-10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Prometheus/Grafana 모니터링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A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10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T3-11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락 전략 3종 비교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10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T3-12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도메인별 관리자 페이지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AI(FE) + 각 도메인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10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T3-13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홈·마이페이지 통합 조회 API 및 화면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A, E, AI(FE)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10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T3-14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날씨·카카오 지도 정보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A, C</a:t>
                      </a:r>
                      <a:endParaRPr 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Text 0">
            <a:extLst>
              <a:ext uri="{FF2B5EF4-FFF2-40B4-BE49-F238E27FC236}">
                <a16:creationId xmlns:a16="http://schemas.microsoft.com/office/drawing/2014/main" id="{FEA93CFF-E2B7-2E10-D1BE-95EF618E5D86}"/>
              </a:ext>
            </a:extLst>
          </p:cNvPr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04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수행 결과</a:t>
            </a: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570BAD57-6F87-1160-FC60-0E99F5DB7887}"/>
              </a:ext>
            </a:extLst>
          </p:cNvPr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11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</a:t>
            </a:r>
            <a:r>
              <a:rPr lang="ko-KR" altLang="en-US" sz="11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차 구현 기능</a:t>
            </a:r>
            <a:endParaRPr lang="en-US" sz="11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A14E585A-4E85-441F-B5A2-08350855A7EB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Text 34">
            <a:extLst>
              <a:ext uri="{FF2B5EF4-FFF2-40B4-BE49-F238E27FC236}">
                <a16:creationId xmlns:a16="http://schemas.microsoft.com/office/drawing/2014/main" id="{FD0D5C88-6CBC-6679-3E94-80F246037DD5}"/>
              </a:ext>
            </a:extLst>
          </p:cNvPr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7</a:t>
            </a:r>
            <a:endParaRPr lang="en-US" sz="9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AA28FC18-C1C3-8D06-DB8F-76B638970671}"/>
              </a:ext>
            </a:extLst>
          </p:cNvPr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Re:Seat · 3차(최종) 프로젝트 발표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63477"/>
            <a:ext cx="10988233" cy="1587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71304"/>
              </a:lnSpc>
            </a:pPr>
            <a:r>
              <a:rPr lang="en-US" sz="15001" b="1" kern="0" spc="-450" dirty="0">
                <a:solidFill>
                  <a:srgbClr val="94BCE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15001" dirty="0"/>
          </a:p>
        </p:txBody>
      </p:sp>
      <p:sp>
        <p:nvSpPr>
          <p:cNvPr id="3" name="Text 1"/>
          <p:cNvSpPr/>
          <p:nvPr/>
        </p:nvSpPr>
        <p:spPr>
          <a:xfrm>
            <a:off x="609600" y="3577977"/>
            <a:ext cx="11069256" cy="76502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97473"/>
              </a:lnSpc>
            </a:pPr>
            <a:r>
              <a:rPr lang="en-US" sz="5200" b="1" kern="0" spc="-52" dirty="0">
                <a:solidFill>
                  <a:srgbClr val="F2F2F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프로젝트 </a:t>
            </a:r>
            <a:r>
              <a:rPr lang="en-US" sz="5200" b="1" kern="0" spc="-52" dirty="0" err="1">
                <a:solidFill>
                  <a:srgbClr val="F2F2F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수행</a:t>
            </a:r>
            <a:r>
              <a:rPr lang="en-US" sz="5200" b="1" kern="0" spc="-52" dirty="0">
                <a:solidFill>
                  <a:srgbClr val="F2F2F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5200" b="1" kern="0" spc="-52" dirty="0">
                <a:solidFill>
                  <a:srgbClr val="F2F2F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609600" y="4495404"/>
            <a:ext cx="1778000" cy="6350"/>
          </a:xfrm>
          <a:prstGeom prst="rect">
            <a:avLst/>
          </a:prstGeom>
          <a:solidFill>
            <a:srgbClr val="749DC4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5" name="Text 3"/>
          <p:cNvSpPr/>
          <p:nvPr/>
        </p:nvSpPr>
        <p:spPr>
          <a:xfrm>
            <a:off x="609600" y="4679553"/>
            <a:ext cx="10988233" cy="3276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134054"/>
              </a:lnSpc>
            </a:pPr>
            <a:r>
              <a:rPr lang="ko-KR" altLang="en-US" sz="1600" dirty="0">
                <a:solidFill>
                  <a:srgbClr val="B5D9F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서비스 흐름</a:t>
            </a:r>
            <a:r>
              <a:rPr lang="en-US" sz="1600" dirty="0">
                <a:solidFill>
                  <a:srgbClr val="B5D9F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</a:t>
            </a:r>
            <a:r>
              <a:rPr lang="ko-KR" altLang="en-US" sz="1600" dirty="0">
                <a:solidFill>
                  <a:srgbClr val="B5D9F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관리자 페이지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7399" y="1022009"/>
            <a:ext cx="11185855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</a:t>
            </a:r>
            <a:r>
              <a:rPr sz="28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8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파이프라인</a:t>
            </a:r>
            <a:r>
              <a:rPr sz="28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</a:t>
            </a:r>
            <a:r>
              <a:rPr sz="28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</a:t>
            </a:r>
            <a:r>
              <a:rPr sz="28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8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선택부터</a:t>
            </a:r>
            <a:r>
              <a:rPr sz="28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8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</a:t>
            </a:r>
            <a:r>
              <a:rPr sz="28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8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발권까지</a:t>
            </a:r>
            <a:r>
              <a:rPr sz="28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25477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6단계 </a:t>
            </a:r>
            <a:r>
              <a:rPr sz="12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흐름을</a:t>
            </a:r>
            <a:r>
              <a:rPr sz="12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</a:t>
            </a:r>
            <a:r>
              <a:rPr sz="12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단위로</a:t>
            </a:r>
            <a:r>
              <a:rPr sz="12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짚어보며</a:t>
            </a:r>
            <a:r>
              <a:rPr sz="12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각 </a:t>
            </a:r>
            <a:r>
              <a:rPr sz="12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단계에서</a:t>
            </a:r>
            <a:r>
              <a:rPr sz="12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어떤</a:t>
            </a:r>
            <a:r>
              <a:rPr sz="12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기술적</a:t>
            </a:r>
            <a:r>
              <a:rPr sz="12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장치가</a:t>
            </a:r>
            <a:r>
              <a:rPr sz="12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함께</a:t>
            </a:r>
            <a:r>
              <a:rPr sz="12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동작하는지</a:t>
            </a:r>
            <a:r>
              <a:rPr sz="12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이어서</a:t>
            </a:r>
            <a:r>
              <a:rPr sz="12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설명합니다</a:t>
            </a:r>
            <a:r>
              <a:rPr sz="12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1" y="2012329"/>
            <a:ext cx="3606698" cy="1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8" name="Oval 7"/>
          <p:cNvSpPr/>
          <p:nvPr/>
        </p:nvSpPr>
        <p:spPr>
          <a:xfrm>
            <a:off x="731521" y="2316235"/>
            <a:ext cx="365760" cy="365760"/>
          </a:xfrm>
          <a:prstGeom prst="ellipse">
            <a:avLst/>
          </a:prstGeom>
          <a:solidFill>
            <a:srgbClr val="C6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1" y="2833332"/>
            <a:ext cx="314949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</a:t>
            </a:r>
            <a:r>
              <a:rPr sz="16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6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</a:t>
            </a:r>
            <a:endParaRPr sz="16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1" y="3220552"/>
            <a:ext cx="3149498" cy="3748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QueryDSL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동적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검색으로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구단·구장·날짜별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조회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br>
              <a:rPr lang="en-US"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(OPEN/CLOSED)에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따라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진입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가능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여부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표시</a:t>
            </a:r>
            <a:endParaRPr sz="110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92499" y="2012329"/>
            <a:ext cx="3606698" cy="1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521099" y="2316235"/>
            <a:ext cx="365760" cy="365760"/>
          </a:xfrm>
          <a:prstGeom prst="ellipse">
            <a:avLst/>
          </a:prstGeom>
          <a:solidFill>
            <a:srgbClr val="C6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579" y="2860963"/>
            <a:ext cx="314949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대기열</a:t>
            </a:r>
            <a:r>
              <a:rPr sz="1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진입</a:t>
            </a:r>
            <a:endParaRPr sz="14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21099" y="3186504"/>
            <a:ext cx="3149498" cy="408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Kafka로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진입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이벤트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발행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→ Redis ZSET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등록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br>
              <a:rPr lang="en-US"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→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SSE로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순번·입장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실시간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수신</a:t>
            </a:r>
            <a:endParaRPr sz="120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82077" y="2012329"/>
            <a:ext cx="3606698" cy="1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310677" y="2316235"/>
            <a:ext cx="365760" cy="365760"/>
          </a:xfrm>
          <a:prstGeom prst="ellipse">
            <a:avLst/>
          </a:prstGeom>
          <a:solidFill>
            <a:srgbClr val="C6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0677" y="2851571"/>
            <a:ext cx="314949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선택·선점</a:t>
            </a:r>
            <a:endParaRPr sz="14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10677" y="3186504"/>
            <a:ext cx="3149498" cy="408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입장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토큰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보유자만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조회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가능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구역별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배치도에서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최대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2석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→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Redisson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분산락으로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선점</a:t>
            </a:r>
            <a:endParaRPr sz="120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1" y="4220929"/>
            <a:ext cx="3606698" cy="1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31521" y="4601504"/>
            <a:ext cx="365760" cy="365760"/>
          </a:xfrm>
          <a:prstGeom prst="ellipse">
            <a:avLst/>
          </a:prstGeom>
          <a:solidFill>
            <a:srgbClr val="C6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1" y="5113252"/>
            <a:ext cx="314949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주문</a:t>
            </a:r>
            <a:r>
              <a:rPr sz="16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6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생성</a:t>
            </a:r>
            <a:endParaRPr sz="16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1" y="5510034"/>
            <a:ext cx="3149498" cy="408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선점된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예약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주문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생성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제한시간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부여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br>
              <a:rPr lang="en-US"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시간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초과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시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자동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취소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후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반환</a:t>
            </a:r>
            <a:endParaRPr sz="120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92499" y="4220929"/>
            <a:ext cx="3606698" cy="1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521099" y="4601504"/>
            <a:ext cx="365760" cy="365760"/>
          </a:xfrm>
          <a:prstGeom prst="ellipse">
            <a:avLst/>
          </a:prstGeom>
          <a:solidFill>
            <a:srgbClr val="C6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1099" y="5113252"/>
            <a:ext cx="314949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</a:t>
            </a:r>
            <a:endParaRPr sz="16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21099" y="5510034"/>
            <a:ext cx="3149498" cy="408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멱등키와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함께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요청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생성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→ Toss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결제창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br>
              <a:rPr lang="en-US"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→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콜백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검증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후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승인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실패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시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복구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스케줄러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재처리</a:t>
            </a:r>
            <a:endParaRPr sz="120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082077" y="4220929"/>
            <a:ext cx="3606698" cy="1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8310677" y="4601504"/>
            <a:ext cx="365760" cy="365760"/>
          </a:xfrm>
          <a:prstGeom prst="ellipse">
            <a:avLst/>
          </a:prstGeom>
          <a:solidFill>
            <a:srgbClr val="C6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0677" y="5113252"/>
            <a:ext cx="314949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</a:t>
            </a:r>
            <a:r>
              <a:rPr sz="16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6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발권</a:t>
            </a:r>
            <a:endParaRPr sz="16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10677" y="5510034"/>
            <a:ext cx="3149498" cy="408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승인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시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SOLD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확정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및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발급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br>
              <a:rPr lang="en-US"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마이페이지에서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통합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조회</a:t>
            </a:r>
            <a:endParaRPr sz="120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2B178C47-2DF0-2373-E146-88E32923C099}"/>
              </a:ext>
            </a:extLst>
          </p:cNvPr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04-</a:t>
            </a:r>
            <a:r>
              <a:rPr lang="ko-KR" alt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흐름 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수행 결과 </a:t>
            </a:r>
            <a:r>
              <a:rPr lang="en-US" altLang="ko-KR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—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서비스 흐름</a:t>
            </a:r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B1CC4781-5F3C-B7E2-9DEE-EF31D76A5E4E}"/>
              </a:ext>
            </a:extLst>
          </p:cNvPr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 파이프라인 화면 구성</a:t>
            </a:r>
            <a:endParaRPr lang="en-US" sz="110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30AC933C-79AB-586C-D412-4DE405EFAB9B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2321A9C6-7A2C-4A52-EAE5-EB7A7173736A}"/>
              </a:ext>
            </a:extLst>
          </p:cNvPr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8</a:t>
            </a:r>
            <a:endParaRPr lang="en-US" sz="9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0A78A228-3332-4792-355E-1D14B753DDDF}"/>
              </a:ext>
            </a:extLst>
          </p:cNvPr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Re:Seat · 3차(최종) 프로젝트 발표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982754"/>
            <a:ext cx="1118585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STEP 1 ·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오늘의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경기와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캘린더</a:t>
            </a:r>
            <a:endParaRPr sz="24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0751" y="1453003"/>
            <a:ext cx="1118585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달력에서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날짜를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고르면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해당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일자의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목록이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카드로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표출되고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상태에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따라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진입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가능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여부가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즉시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구분됩니다</a:t>
            </a:r>
            <a:r>
              <a:rPr sz="1100" b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327" y="1747561"/>
            <a:ext cx="11304000" cy="3679469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8" name="Picture 7" descr="465719e6-4ee6-49f8-a8e4-4633c2e7b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078" y="1859402"/>
            <a:ext cx="5257331" cy="34333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0751" y="5629142"/>
            <a:ext cx="73832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</a:t>
            </a:r>
            <a:r>
              <a:rPr sz="12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설명</a:t>
            </a:r>
            <a:endParaRPr sz="12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80859" y="5633790"/>
            <a:ext cx="10307915" cy="175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캘린더의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날짜별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점(●)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개수로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수를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한눈에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보여주고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날짜를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선택하면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해당일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전체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경기가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카드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목록으로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펼쳐집니다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각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카드는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예정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/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예매중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/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종료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/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취소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상태를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색으로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구분해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보여줍니다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67419"/>
            <a:ext cx="74615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기술</a:t>
            </a:r>
            <a:r>
              <a:rPr sz="12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포인트</a:t>
            </a:r>
            <a:endParaRPr sz="12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80859" y="5963104"/>
            <a:ext cx="10307914" cy="175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QueryDSL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동적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쿼리로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구단·구장·날짜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조건을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조합해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검색하고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경기별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bookingStatus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(OPEN/CLOSED)에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따라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“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예매하기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”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버튼의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활성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여부를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서버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응답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기준으로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0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제어합니다</a:t>
            </a:r>
            <a:r>
              <a:rPr sz="10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0677ED3D-9430-BFF2-49B5-8993F479E02B}"/>
              </a:ext>
            </a:extLst>
          </p:cNvPr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04-</a:t>
            </a:r>
            <a:r>
              <a:rPr lang="ko-KR" alt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흐름 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수행 결과 </a:t>
            </a:r>
            <a:r>
              <a:rPr lang="en-US" altLang="ko-KR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—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서비스 흐름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06BAAA31-0852-7DBD-3F0B-196AB9997DBB}"/>
              </a:ext>
            </a:extLst>
          </p:cNvPr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STEP 1 </a:t>
            </a:r>
            <a:r>
              <a:rPr lang="en-US" altLang="ko-KR" sz="1100" dirty="0">
                <a:solidFill>
                  <a:srgbClr val="5B6472"/>
                </a:solidFill>
              </a:rPr>
              <a:t>·</a:t>
            </a:r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 예매</a:t>
            </a:r>
            <a:endParaRPr lang="en-US" sz="110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B540A29F-5879-540E-521A-EF646C121809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E9A5C51-E3B3-2465-FA6A-B90E17DCBE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9" t="6355" r="2885"/>
          <a:stretch>
            <a:fillRect/>
          </a:stretch>
        </p:blipFill>
        <p:spPr>
          <a:xfrm>
            <a:off x="568072" y="1860064"/>
            <a:ext cx="5626262" cy="3432697"/>
          </a:xfrm>
          <a:prstGeom prst="rect">
            <a:avLst/>
          </a:prstGeom>
        </p:spPr>
      </p:pic>
      <p:sp>
        <p:nvSpPr>
          <p:cNvPr id="23" name="Text 34">
            <a:extLst>
              <a:ext uri="{FF2B5EF4-FFF2-40B4-BE49-F238E27FC236}">
                <a16:creationId xmlns:a16="http://schemas.microsoft.com/office/drawing/2014/main" id="{E6C09153-3C78-4AE0-D972-303BC2848E40}"/>
              </a:ext>
            </a:extLst>
          </p:cNvPr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9</a:t>
            </a:r>
            <a:endParaRPr lang="en-US" sz="9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1B000630-C9CA-2F3C-F427-00E5C93B3810}"/>
              </a:ext>
            </a:extLst>
          </p:cNvPr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Re:Seat · 3차(최종) 프로젝트 발표</a:t>
            </a:r>
            <a:endParaRPr lang="en-US" sz="10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7399" y="959227"/>
            <a:ext cx="1118585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STEP 2 ·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대기열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진입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Virtual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398" y="1443859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경기를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선택하면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대기열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등록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화면으로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전환되고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접수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상태와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예상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대기시간이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실시간으로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갱신됩니다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7398" y="1874180"/>
            <a:ext cx="6204344" cy="420696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8" name="Picture 7" descr="28be7441-67de-458d-825a-a40dd98da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70" y="2126758"/>
            <a:ext cx="5714999" cy="37322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24607" y="2419965"/>
            <a:ext cx="45641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설명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24607" y="2820895"/>
            <a:ext cx="4617720" cy="441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“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등록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중입니다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”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화면에서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나의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순서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현재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(WAITING), </a:t>
            </a:r>
            <a:br>
              <a:rPr lang="en-US"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예상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대기시간을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보여주며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창을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닫아도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순번은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서버에서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계속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관리됩니다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4607" y="3947437"/>
            <a:ext cx="45699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기술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포인트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24608" y="4357570"/>
            <a:ext cx="4558646" cy="902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Controller가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요청을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즉시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202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Accepted로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응답하고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Kafka에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진입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이벤트를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비동기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적재합니다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</a:t>
            </a:r>
            <a:endParaRPr lang="en-US" sz="120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Consumer가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Redis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ZSET에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순번을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등록한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뒤,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스케줄러가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N명에게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입장을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허용하고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SSE로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순번·입장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클라이언트에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실시간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푸시합니다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85AE463E-41F1-53A1-CD6B-4B37901A0016}"/>
              </a:ext>
            </a:extLst>
          </p:cNvPr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04-</a:t>
            </a:r>
            <a:r>
              <a:rPr lang="ko-KR" alt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흐름 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수행 결과 </a:t>
            </a:r>
            <a:r>
              <a:rPr lang="en-US" altLang="ko-KR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—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서비스 흐름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5A17D0F9-2115-27E8-2AF9-BDA707A1A171}"/>
              </a:ext>
            </a:extLst>
          </p:cNvPr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STEP 2 </a:t>
            </a:r>
            <a:r>
              <a:rPr lang="en-US" altLang="ko-KR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·</a:t>
            </a:r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110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대기열</a:t>
            </a:r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진입</a:t>
            </a:r>
            <a:endParaRPr lang="en-US" sz="110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E0CF4102-0B69-9467-557A-879C15B8247E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5B6472"/>
                </a:solidFill>
                <a:latin typeface="Pretendard Variable"/>
              </a:rPr>
              <a:t>Re:Seat · 3차(최종) 프로젝트 발표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latin typeface="Pretendard Variable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492240"/>
            <a:ext cx="73152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Re:Seat · 3차(최종) 프로젝트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7399" y="959227"/>
            <a:ext cx="1118585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STEP 3 ·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선택·선점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구역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선택부터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확정까지</a:t>
            </a:r>
            <a:endParaRPr sz="24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443859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입장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토큰을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받은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사용자만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배치도에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접근할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수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있고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구역과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좌석을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고르면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남은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선점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시간이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함께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표시됩니다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19" y="1876809"/>
            <a:ext cx="6812281" cy="40219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8" name="Picture 7" descr="im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59" y="2247659"/>
            <a:ext cx="6334999" cy="32250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57827" y="2006940"/>
            <a:ext cx="398450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설명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57829" y="2400162"/>
            <a:ext cx="3925426" cy="6720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01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구역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→ 02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→ 03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확인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3단계로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구성되며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합계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금액이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우측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패널에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실시간으로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반영되고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br>
              <a:rPr lang="en-US"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“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남은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시간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”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카운트다운이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함께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노출됩니다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7827" y="3859818"/>
            <a:ext cx="3984502" cy="215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기술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포인트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57829" y="4269032"/>
            <a:ext cx="3984500" cy="902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Redisson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분산락으로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ID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선점을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보장하고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GameSeatStatus를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AVAILABLE →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HELD로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전이합니다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</a:t>
            </a:r>
            <a:endParaRPr lang="en-US" sz="120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다좌석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선점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시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gameSeatId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오름차순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정렬로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락을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획득해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순환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(deadlock)를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구조적으로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차단합니다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1575" y="6492240"/>
            <a:ext cx="99386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11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B7A4E96E-C9A4-E31C-25E4-2264B022EB71}"/>
              </a:ext>
            </a:extLst>
          </p:cNvPr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04-</a:t>
            </a:r>
            <a:r>
              <a:rPr lang="ko-KR" alt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흐름 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수행 결과 </a:t>
            </a:r>
            <a:r>
              <a:rPr lang="en-US" altLang="ko-KR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—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서비스 흐름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784D0B8E-C675-6F34-9E0F-ABD6EDA89BBE}"/>
              </a:ext>
            </a:extLst>
          </p:cNvPr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STEP 3 </a:t>
            </a:r>
            <a:r>
              <a:rPr lang="en-US" altLang="ko-KR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·</a:t>
            </a:r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 선택 선점</a:t>
            </a:r>
            <a:endParaRPr lang="en-US" sz="110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48E5F471-4C0D-A2B9-2B8D-CF8E1BDA3E32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492240"/>
            <a:ext cx="73152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Re:Seat · 3차(최종) 프로젝트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1701" y="983189"/>
            <a:ext cx="1118585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STEP 4 ·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주문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생성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정보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확인</a:t>
            </a:r>
            <a:endParaRPr sz="24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7399" y="1525072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선점한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좌석과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금액을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확인하는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주문서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화면으로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이동하며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제한시간이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함께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표시됩니다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1701" y="1920240"/>
            <a:ext cx="6621687" cy="4141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8" name="Picture 7" descr="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76" y="2301711"/>
            <a:ext cx="6302736" cy="33848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00806" y="2350573"/>
            <a:ext cx="4189493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설명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00806" y="2733623"/>
            <a:ext cx="4189493" cy="6720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정보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금액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수령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방법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모바일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)을 한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화면에서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확인하고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“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주문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생성하기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”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버튼으로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다음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단계로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넘어갑니다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</a:t>
            </a:r>
            <a:endParaRPr lang="en-US" sz="120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l">
              <a:lnSpc>
                <a:spcPct val="125000"/>
              </a:lnSpc>
            </a:pP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“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선점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남은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시간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”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타이머가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계속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노출됩니다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34416" y="4286264"/>
            <a:ext cx="4189493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기술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포인트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00806" y="4757509"/>
            <a:ext cx="4223103" cy="6720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선점된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예약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(Reservation)을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기준으로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주문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(Order)을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생성하고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마감시각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payment_deadline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)을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부여합니다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</a:t>
            </a:r>
            <a:endParaRPr lang="en-US" sz="120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시간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초과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시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스케줄러가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주문을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자동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취소하고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즉시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반환합니다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1575" y="6492240"/>
            <a:ext cx="113813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12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62D5E0BD-9B11-898E-5DE2-31F4D7D26A5E}"/>
              </a:ext>
            </a:extLst>
          </p:cNvPr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04-</a:t>
            </a:r>
            <a:r>
              <a:rPr lang="ko-KR" alt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흐름 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수행 결과 </a:t>
            </a:r>
            <a:r>
              <a:rPr lang="en-US" altLang="ko-KR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—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서비스 흐름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11E8E2B8-B209-A59B-E3DF-8B392DCA2186}"/>
              </a:ext>
            </a:extLst>
          </p:cNvPr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STEP 4 </a:t>
            </a:r>
            <a:r>
              <a:rPr lang="en-US" altLang="ko-KR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·</a:t>
            </a:r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주문 생성</a:t>
            </a:r>
            <a:endParaRPr lang="en-US" sz="110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5B311DB7-3706-12EB-373C-140330294DBD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989213"/>
            <a:ext cx="1118585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STEP 5 ·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Toss Payments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연동</a:t>
            </a:r>
            <a:endParaRPr sz="24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481334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Toss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결제창으로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이동해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결제수단을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선택하고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결제를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완료하면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서버가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최종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승인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여부를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확정합니다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19" y="1920240"/>
            <a:ext cx="6621687" cy="416090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8" name="Picture 7" descr="im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03" y="2220200"/>
            <a:ext cx="6181317" cy="35661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92992" y="2472372"/>
            <a:ext cx="4095783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설명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92992" y="2838132"/>
            <a:ext cx="4095783" cy="6720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주문번호·결제번호·결제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(READY)와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남은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시간을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보여주고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</a:t>
            </a:r>
            <a:br>
              <a:rPr lang="en-US"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“Toss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결제창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열기”로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실제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진행합니다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</a:t>
            </a:r>
            <a:br>
              <a:rPr lang="en-US"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“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주문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확인”으로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진행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상황을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다시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조회할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수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있습니다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92992" y="4240408"/>
            <a:ext cx="4095783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기술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포인트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92992" y="4606168"/>
            <a:ext cx="4095783" cy="902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멱등키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(Idempotency-Key)를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포함해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요청을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생성하고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paymentKey·orderId·amount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3중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대조로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콜백을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검증합니다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</a:t>
            </a:r>
            <a:endParaRPr lang="en-US" sz="120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승인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결과가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불명확하면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복구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스케줄러가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PG를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재조회해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최종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맞춥니다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F65A5CC8-AC21-0B6D-1778-96B89F43D0F1}"/>
              </a:ext>
            </a:extLst>
          </p:cNvPr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04-</a:t>
            </a:r>
            <a:r>
              <a:rPr lang="ko-KR" alt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흐름 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수행 결과 </a:t>
            </a:r>
            <a:r>
              <a:rPr lang="en-US" altLang="ko-KR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—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서비스 흐름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65B1F004-096F-57AF-F25B-44466F219C34}"/>
              </a:ext>
            </a:extLst>
          </p:cNvPr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STEP </a:t>
            </a:r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５</a:t>
            </a:r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en-US" altLang="ko-KR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·</a:t>
            </a:r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</a:t>
            </a:r>
            <a:endParaRPr lang="en-US" sz="110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B2FCB40C-609E-C58B-52E1-844BA03603E3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5B6472"/>
                </a:solidFill>
                <a:latin typeface="Pretendard Variable"/>
              </a:rPr>
              <a:t>Re:Seat · 3차(최종) 프로젝트 발표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latin typeface="Pretendard Variable"/>
              </a:rPr>
              <a:t>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7399" y="959227"/>
            <a:ext cx="1118585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STEP 6 ·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발권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·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마이페이지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통합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조회</a:t>
            </a:r>
            <a:endParaRPr sz="24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7398" y="1443859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결제가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승인되면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완료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화면과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함께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티켓이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즉시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발권되고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마이페이지에서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QR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티켓과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내역을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한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화면에서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확인합니다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1"/>
            <a:ext cx="5989320" cy="4160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8" name="Picture 7" descr="im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26959"/>
            <a:ext cx="5715000" cy="2245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95220" y="2059406"/>
            <a:ext cx="474710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설명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95220" y="2412733"/>
            <a:ext cx="4693555" cy="441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마이페이지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“내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”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탭에서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(ISSUED),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취소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마감일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좌석·경기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정보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QR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코드를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함께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보여주고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결제·환불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상세도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같은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화면에서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조회할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수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있습니다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220" y="3992880"/>
            <a:ext cx="469355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기술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포인트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10086" y="4358640"/>
            <a:ext cx="4832241" cy="6720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승인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시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SOLD로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확정하고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발급합니다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</a:t>
            </a:r>
            <a:endParaRPr lang="en-US" sz="120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l">
              <a:lnSpc>
                <a:spcPct val="125000"/>
              </a:lnSpc>
            </a:pP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GET /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api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/v1/tickets/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me가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경기·좌석·주문·결제·환불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정보를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endParaRPr lang="en-US" sz="120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기준으로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통합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조회하며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group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필터로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예매확인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/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예매취소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탭을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구분합니다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ACF78CF6-189E-B982-5E40-C81541E3C675}"/>
              </a:ext>
            </a:extLst>
          </p:cNvPr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04-</a:t>
            </a:r>
            <a:r>
              <a:rPr lang="ko-KR" alt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흐름 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수행 결과 </a:t>
            </a:r>
            <a:r>
              <a:rPr lang="en-US" altLang="ko-KR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—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서비스 흐름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406CB9C8-3605-0191-736A-553D57A2E8FB}"/>
              </a:ext>
            </a:extLst>
          </p:cNvPr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STEP </a:t>
            </a:r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６</a:t>
            </a:r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en-US" altLang="ko-KR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·</a:t>
            </a:r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주문 발권</a:t>
            </a:r>
            <a:endParaRPr lang="en-US" sz="110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F161EA38-0ED0-EA48-14F7-39EC2A1A83D2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285E6C9-6339-095B-1096-EA55E0E7C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72137"/>
            <a:ext cx="5715000" cy="1557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5B6472"/>
                </a:solidFill>
                <a:latin typeface="Pretendard Variable"/>
              </a:rPr>
              <a:t>Re:Seat · 3차(최종) 프로젝트 발표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latin typeface="Pretendard Variable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3072" y="989599"/>
            <a:ext cx="11185855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관리자</a:t>
            </a:r>
            <a:r>
              <a:rPr sz="3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3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페이지</a:t>
            </a:r>
            <a:r>
              <a:rPr sz="3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</a:t>
            </a:r>
            <a:r>
              <a:rPr sz="3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도메인별</a:t>
            </a:r>
            <a:r>
              <a:rPr sz="3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3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운영</a:t>
            </a:r>
            <a:r>
              <a:rPr sz="3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3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기능을</a:t>
            </a:r>
            <a:r>
              <a:rPr sz="3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3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하나의</a:t>
            </a:r>
            <a:r>
              <a:rPr sz="3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3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</a:t>
            </a:r>
            <a:r>
              <a:rPr sz="3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3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체계로</a:t>
            </a:r>
            <a:endParaRPr sz="32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3072" y="1618137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각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도메인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담당자가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자신의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관리자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API를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구현하고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프론트는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AI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페어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프로그래밍으로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화면을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통합했습니다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108797"/>
              </p:ext>
            </p:extLst>
          </p:nvPr>
        </p:nvGraphicFramePr>
        <p:xfrm>
          <a:off x="503071" y="2037121"/>
          <a:ext cx="11185703" cy="3687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8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4532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chemeClr val="bg1"/>
                          </a:solidFill>
                          <a:latin typeface="+mj-lt"/>
                        </a:rPr>
                        <a:t>담당</a:t>
                      </a:r>
                      <a:endParaRPr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2A41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chemeClr val="bg1"/>
                          </a:solidFill>
                          <a:latin typeface="+mj-lt"/>
                        </a:rPr>
                        <a:t>관리자</a:t>
                      </a:r>
                      <a:r>
                        <a:rPr sz="1400" b="1" dirty="0">
                          <a:solidFill>
                            <a:schemeClr val="bg1"/>
                          </a:solidFill>
                          <a:latin typeface="+mj-lt"/>
                        </a:rPr>
                        <a:t> </a:t>
                      </a:r>
                      <a:r>
                        <a:rPr sz="1400" b="1" dirty="0" err="1">
                          <a:solidFill>
                            <a:schemeClr val="bg1"/>
                          </a:solidFill>
                          <a:latin typeface="+mj-lt"/>
                        </a:rPr>
                        <a:t>기능</a:t>
                      </a:r>
                      <a:endParaRPr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2A41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532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A.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인증·사용자</a:t>
                      </a:r>
                      <a:endParaRPr sz="1400" b="0" dirty="0">
                        <a:solidFill>
                          <a:srgbClr val="1D2D3D"/>
                        </a:solidFill>
                        <a:latin typeface="+mj-lt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회원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이메일·이름·권한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(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일반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/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관리자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)·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상태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(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활성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/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정지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/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탈퇴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)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관리</a:t>
                      </a:r>
                      <a:endParaRPr sz="1400" b="0" dirty="0">
                        <a:solidFill>
                          <a:srgbClr val="1D2D3D"/>
                        </a:solidFill>
                        <a:latin typeface="+mj-lt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53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2D3D"/>
                          </a:solidFill>
                          <a:latin typeface="+mj-lt"/>
                        </a:rPr>
                        <a:t>B. 대기열·주문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현재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대기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인원·Queue-Token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발급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지표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조회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입장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허용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인원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실시간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조절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, 일/주/월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집계</a:t>
                      </a:r>
                      <a:endParaRPr sz="1400" b="0" dirty="0">
                        <a:solidFill>
                          <a:srgbClr val="1D2D3D"/>
                        </a:solidFill>
                        <a:latin typeface="+mj-lt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53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2D3D"/>
                          </a:solidFill>
                          <a:latin typeface="+mj-lt"/>
                        </a:rPr>
                        <a:t>C. 경기·좌석·예약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구장·구단·좌석구역·좌석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등록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경기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등록·재고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오픈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예약·선점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상태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목록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좌석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판매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차단</a:t>
                      </a:r>
                      <a:endParaRPr sz="1400" b="0" dirty="0">
                        <a:solidFill>
                          <a:srgbClr val="1D2D3D"/>
                        </a:solidFill>
                        <a:latin typeface="+mj-lt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53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2D3D"/>
                          </a:solidFill>
                          <a:latin typeface="+mj-lt"/>
                        </a:rPr>
                        <a:t>D. 결제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결제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승인·실패·취소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내역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조회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, PG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복구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작업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관리</a:t>
                      </a:r>
                      <a:endParaRPr sz="1400" b="0" dirty="0">
                        <a:solidFill>
                          <a:srgbClr val="1D2D3D"/>
                        </a:solidFill>
                        <a:latin typeface="+mj-lt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53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2D3D"/>
                          </a:solidFill>
                          <a:latin typeface="+mj-lt"/>
                        </a:rPr>
                        <a:t>E. 티켓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QR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검표·재발급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회원별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티켓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조회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사유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기반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강제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취소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경기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단위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일괄</a:t>
                      </a:r>
                      <a:r>
                        <a:rPr sz="1400" b="0" dirty="0">
                          <a:solidFill>
                            <a:srgbClr val="1D2D3D"/>
                          </a:solidFill>
                          <a:latin typeface="+mj-lt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D2D3D"/>
                          </a:solidFill>
                          <a:latin typeface="+mj-lt"/>
                        </a:rPr>
                        <a:t>취소</a:t>
                      </a:r>
                      <a:endParaRPr sz="1400" b="0" dirty="0">
                        <a:solidFill>
                          <a:srgbClr val="1D2D3D"/>
                        </a:solidFill>
                        <a:latin typeface="+mj-lt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3072" y="5996502"/>
            <a:ext cx="111858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다음 페이지부터 경기·좌석 관리 → 대기열 현황 → 티켓 관리 화면을 순서대로 확인합니다.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EF02E9F-01C7-F25D-6B45-6FEBD20AEC5F}"/>
              </a:ext>
            </a:extLst>
          </p:cNvPr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04-Admin</a:t>
            </a:r>
            <a:r>
              <a:rPr lang="ko-KR" alt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수행 결과 </a:t>
            </a:r>
            <a:r>
              <a:rPr lang="en-US" altLang="ko-KR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—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관리자 페이지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48D545C8-8B32-DCB6-4715-9CB5C0D07DA9}"/>
              </a:ext>
            </a:extLst>
          </p:cNvPr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도메인별 운영 기능</a:t>
            </a:r>
            <a:endParaRPr lang="en-US" sz="110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91DD7D13-ABE4-0955-0331-9DE749E6F5D2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5B6472"/>
                </a:solidFill>
                <a:latin typeface="Pretendard Variable"/>
              </a:rPr>
              <a:t>Re:Seat · 3차(최종) 프로젝트 발표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latin typeface="Pretendard Variable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7399" y="936700"/>
            <a:ext cx="1118585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경기·좌석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관리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등록</a:t>
            </a:r>
            <a:r>
              <a:rPr lang="ko-KR" altLang="en-US" sz="2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en-US" altLang="ko-KR" sz="2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·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재고</a:t>
            </a:r>
            <a:r>
              <a:rPr lang="ko-KR" altLang="en-US" sz="2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en-US" altLang="ko-KR" sz="2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·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판매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차단</a:t>
            </a:r>
            <a:endParaRPr sz="24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412246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경기를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검색해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재고를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생성하고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판매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가능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/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선점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/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판매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완료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/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차단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현황을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한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화면에서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관리합니다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46513"/>
            <a:ext cx="11239408" cy="43346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8" name="Picture 7" descr="image_11.png"/>
          <p:cNvPicPr>
            <a:picLocks noChangeAspect="1"/>
          </p:cNvPicPr>
          <p:nvPr/>
        </p:nvPicPr>
        <p:blipFill>
          <a:blip r:embed="rId2"/>
          <a:srcRect l="16636"/>
          <a:stretch>
            <a:fillRect/>
          </a:stretch>
        </p:blipFill>
        <p:spPr>
          <a:xfrm>
            <a:off x="6322857" y="1865385"/>
            <a:ext cx="4985613" cy="3987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5737" y="4466481"/>
            <a:ext cx="525680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</a:t>
            </a:r>
            <a:r>
              <a:rPr sz="12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설명</a:t>
            </a:r>
            <a:endParaRPr sz="12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5737" y="4723405"/>
            <a:ext cx="5256804" cy="404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선택한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경기의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상태를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변경하고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재고를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상태별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판매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가능·선점·판매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완료·차단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)로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집계해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개별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단위까지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조회·차단할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수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있습니다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737" y="5210170"/>
            <a:ext cx="525680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기술</a:t>
            </a:r>
            <a:r>
              <a:rPr sz="12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포인트</a:t>
            </a:r>
            <a:endParaRPr sz="12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5733" y="5412976"/>
            <a:ext cx="5256806" cy="404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POST /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api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/v1/admin/games, .../games/{id}/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seats로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재고를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오픈하고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bookingStatus를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전이합니다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판매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차단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API는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차단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사유를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함께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기록해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이력을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남깁니다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975D7FB3-7430-4134-194F-9050A797A44B}"/>
              </a:ext>
            </a:extLst>
          </p:cNvPr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04-Admin</a:t>
            </a:r>
            <a:r>
              <a:rPr lang="ko-KR" alt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수행 결과 </a:t>
            </a:r>
            <a:r>
              <a:rPr lang="en-US" altLang="ko-KR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—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관리자 페이지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7D3FEBB-3C79-98B8-41BA-A4EB502B1ACC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AA7A691F-EB75-A1E4-7488-EAA1A00DC3AE}"/>
              </a:ext>
            </a:extLst>
          </p:cNvPr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</a:t>
            </a:r>
            <a:r>
              <a:rPr lang="en-US" altLang="ko-KR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· </a:t>
            </a:r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 관리</a:t>
            </a:r>
            <a:endParaRPr lang="en-US" sz="110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B7F0697F-7600-83D4-EC34-7994DB753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81" y="1934252"/>
            <a:ext cx="5278056" cy="20586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5B6472"/>
                </a:solidFill>
                <a:latin typeface="Pretendard Variable"/>
              </a:rPr>
              <a:t>Re:Seat · 3차(최종) 프로젝트 발표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latin typeface="Pretendard Variable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7399" y="971870"/>
            <a:ext cx="1118585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대기열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현황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실시간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지표와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입장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인원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조절</a:t>
            </a:r>
            <a:endParaRPr sz="24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468712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현재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인원과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Queue-Token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발급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지표를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실시간으로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확인하고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입장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허용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인원을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관리자가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직접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조절합니다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7398" y="1884358"/>
            <a:ext cx="6314881" cy="413061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8" name="Picture 7" descr="im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18" y="2190654"/>
            <a:ext cx="5980639" cy="35180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4540" y="2627288"/>
            <a:ext cx="422310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설명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4540" y="2993049"/>
            <a:ext cx="4223104" cy="6720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현재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대기·사용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가능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토큰·오늘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입장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허용·예매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카드로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보여주고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집계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(일/주/월)와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기간을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지정해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일자별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추이를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그래프로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조회합니다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0367" y="4114695"/>
            <a:ext cx="422310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기술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포인트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4540" y="4440537"/>
            <a:ext cx="4228931" cy="6720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입장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허용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인원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조절은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다음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admission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배치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스케줄러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실행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시점부터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즉시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반영되며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로그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queue_entry_histories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)를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기준으로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집계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API가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응답합니다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8910099B-24C0-286D-3E38-C8230D2B05C9}"/>
              </a:ext>
            </a:extLst>
          </p:cNvPr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04-Admin</a:t>
            </a:r>
            <a:r>
              <a:rPr lang="ko-KR" alt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수행 결과 </a:t>
            </a:r>
            <a:r>
              <a:rPr lang="en-US" altLang="ko-KR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—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관리자 페이지</a:t>
            </a:r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784EE9A3-8B4D-1AC6-7277-A0E6F66D484E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FFDE1D64-2B6C-FCEA-D981-21F73AE0EF38}"/>
              </a:ext>
            </a:extLst>
          </p:cNvPr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altLang="en-US" sz="110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대기열</a:t>
            </a:r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현황</a:t>
            </a:r>
            <a:endParaRPr lang="en-US" sz="110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5B6472"/>
                </a:solidFill>
                <a:latin typeface="Pretendard Variable"/>
              </a:rPr>
              <a:t>Re:Seat · 3차(최종) 프로젝트 발표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latin typeface="Pretendard Variable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7399" y="981931"/>
            <a:ext cx="1118585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관리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QR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검표부터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강제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취소까지</a:t>
            </a:r>
            <a:endParaRPr sz="24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7398" y="1510989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QR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검표·재발급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회원별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확인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사유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기반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강제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취소와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단위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일괄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취소를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한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화면에서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처리합니다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327" y="1921292"/>
            <a:ext cx="6309360" cy="397748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8" name="Picture 7" descr="im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09" y="2116839"/>
            <a:ext cx="5945915" cy="34303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45086" y="2611904"/>
            <a:ext cx="43735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화면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설명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45086" y="2977664"/>
            <a:ext cx="4373575" cy="441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ID·QR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토큰으로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검표를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처리하고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회원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ID·상태·기간으로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검색해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개별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직권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취소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또는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일괄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취소를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실행합니다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5086" y="4289147"/>
            <a:ext cx="43735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기술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포인트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45086" y="4654907"/>
            <a:ext cx="4373575" cy="441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강제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취소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시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작업자·사유를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이력으로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남기고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REFUND_FAILED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별도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목록에서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수동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처리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추적할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수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있도록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분리했습니다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6A1AF7EC-EF53-6170-3A6F-7CA192DAF6F7}"/>
              </a:ext>
            </a:extLst>
          </p:cNvPr>
          <p:cNvSpPr txBox="1"/>
          <p:nvPr/>
        </p:nvSpPr>
        <p:spPr>
          <a:xfrm>
            <a:off x="501701" y="3794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04-Admin</a:t>
            </a:r>
            <a:r>
              <a:rPr lang="ko-KR" altLang="en-US" sz="14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수행 결과 </a:t>
            </a:r>
            <a:r>
              <a:rPr lang="en-US" altLang="ko-KR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— </a:t>
            </a:r>
            <a:r>
              <a:rPr lang="ko-KR" altLang="en-US" sz="1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관리자 페이지</a:t>
            </a:r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0FB24E0D-3403-8543-E6D2-9E4B71638C9C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41CE2CB8-FA95-FC55-3F96-3945291EFDCA}"/>
              </a:ext>
            </a:extLst>
          </p:cNvPr>
          <p:cNvSpPr txBox="1"/>
          <p:nvPr/>
        </p:nvSpPr>
        <p:spPr>
          <a:xfrm>
            <a:off x="7124607" y="347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티켓 관리</a:t>
            </a:r>
            <a:endParaRPr lang="en-US" sz="110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5B6472"/>
                </a:solidFill>
                <a:latin typeface="Pretendard Variable"/>
              </a:rPr>
              <a:t>Re:Seat · 3차(최종) 프로젝트 발표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latin typeface="Pretendard Variable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04-A  </a:t>
            </a:r>
            <a:r>
              <a:rPr lang="en-US" sz="12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수행 결과 — 인증·사용자·인프라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071055" y="274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2차 마무리 · 3차 범위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A. 인증·사용자·인프라 — 기반을 다지고 외부 연동을 확장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5331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2차에서 남은 안정성 이슈를 정리한 뒤, 3차에는 모니터링과 외부 정보 연동을 신규로 추가했습니다.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8998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2차 마무리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51917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CI/CD 테스트 환경 구성, ci.yml Kafka 서비스 추가, Spotless 포맷 통일, 시크릿 하드코딩 제거, User 엔티티 중복 메서드·예외 처리 정합성 수정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040380"/>
            <a:ext cx="11185855" cy="0"/>
          </a:xfrm>
          <a:prstGeom prst="line">
            <a:avLst/>
          </a:prstGeom>
          <a:noFill/>
          <a:ln w="9525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3204972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모니터링</a:t>
            </a:r>
            <a:r>
              <a:rPr lang="en-US" sz="1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 T3-10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534156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Prometheus·Grafana를 AWS Docker 컨테이너에 배포하고 대기열·좌석·주문·결제 핵심 지표를 수집·시각화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055364"/>
            <a:ext cx="11185855" cy="0"/>
          </a:xfrm>
          <a:prstGeom prst="line">
            <a:avLst/>
          </a:prstGeom>
          <a:noFill/>
          <a:ln w="9525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4219956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외부 연동</a:t>
            </a:r>
            <a:r>
              <a:rPr lang="en-US" sz="1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 T3-14 · T3-16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5491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날씨 API 연동 및 혼잡도 지도 오버레이 구현, Linux cron 기반 교통 정체 감지·비상 안내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5070348"/>
            <a:ext cx="11185855" cy="0"/>
          </a:xfrm>
          <a:prstGeom prst="line">
            <a:avLst/>
          </a:prstGeom>
          <a:noFill/>
          <a:ln w="9525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52349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정책 확장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56412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회원 탈퇴 방지 조건을 ISSUED·REFUND_PENDING·REFUND_FAILED 티켓 보유로 확장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Re:Seat · 3차(최종) 프로젝트 발표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04-A  </a:t>
            </a:r>
            <a:r>
              <a:rPr lang="en-US" sz="12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수행 결과 — 인증·사용자·인프라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071055" y="274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모니터링(T3-10)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Prometheus / Grafana — 흐름 전체를 관측 가능하게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5331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모니터링은 다른 3차 기능보다 먼저 연결해, 이후 기능 변경의 전후 비교 기준선으로 활용했습니다.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058150"/>
            <a:ext cx="26593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20624" y="193013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079928" y="193013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20624" y="38503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79928" y="38503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277606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2780526"/>
            <a:ext cx="225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Actuator + Micrometer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04088" y="3283446"/>
            <a:ext cx="2256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애플리케이션 내부 지표를 /actuator/prometheus로 노출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45104" y="2058150"/>
            <a:ext cx="26593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3262808" y="193013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22112" y="193013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262808" y="38503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22112" y="38503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527984" y="2277606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3546272" y="2780526"/>
            <a:ext cx="225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Prometheus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546272" y="3283446"/>
            <a:ext cx="2256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애플리케이션·k6 부하 테스트 지표를 주기적으로 수집·저장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87288" y="2058150"/>
            <a:ext cx="26593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104992" y="193013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64295" y="193013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104992" y="38503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764295" y="38503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70168" y="2277606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6388456" y="2780526"/>
            <a:ext cx="225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Grafana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388456" y="3283446"/>
            <a:ext cx="2256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test_run·load_stage 태그로 측정 회차를 구분해 시각화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29471" y="2058150"/>
            <a:ext cx="26593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8947175" y="193013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606479" y="193013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947175" y="38503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606479" y="38503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212351" y="2277606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9230639" y="2780526"/>
            <a:ext cx="225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CI 동시성 Job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9230639" y="3283446"/>
            <a:ext cx="2256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MySQL 서비스 컨테이너 + concurrency 태그 필터링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434415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모니터링 대상 비기능 요구사항 (발췌)</a:t>
            </a:r>
            <a:endParaRPr lang="en-US" sz="1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817416"/>
              </p:ext>
            </p:extLst>
          </p:nvPr>
        </p:nvGraphicFramePr>
        <p:xfrm>
          <a:off x="512064" y="4751058"/>
          <a:ext cx="11185855" cy="115214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C2A21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구분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C2A21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요구사항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C2A21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목표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성능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대기열 활성 구간의 p99, 오류율, 단위 시간당 입장 인원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500 VU p99 ≤ 2초, 5xx &lt; 1%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좌석 반환 지연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결제 실패·취소 후 좌석이 AVAILABLE로 복귀하는 지연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D3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즉시 반환 p99 ≤ 1초 / 만료 스케줄러 p99 ≤ 12초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" name="Text 37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Re:Seat · 3차(최종) 프로젝트 발표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04-B  </a:t>
            </a:r>
            <a:r>
              <a:rPr lang="en-US" sz="12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수행 결과 — 대기열·주문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071055" y="274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정책 반영 · 신규 기능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B. 대기열·주문 — 진입을 더 촘촘하게 통제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5331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Queue-Token 소비 시점 변경(계약 v4)을 코드에 반영하고, CAPTCHA·진입 게이트로 자동화된 접근을 추가 차단했습니다.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066544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Queue-Token 정책 반영</a:t>
            </a:r>
            <a:r>
              <a:rPr lang="en-US" sz="1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 T3-01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39572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좌석 선점 시 토큰을 검증만 하고 소비하지 않도록 변경 — 소비 시점을 티켓 발급 시점으로 이관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80720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C2A2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기준  </a:t>
            </a: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선점 실패 후 잔여 TTL 안에서 동일 토큰으로 재선점 가능, 부분 성공 0건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300984"/>
            <a:ext cx="11185855" cy="0"/>
          </a:xfrm>
          <a:prstGeom prst="line">
            <a:avLst/>
          </a:prstGeom>
          <a:noFill/>
          <a:ln w="9525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3465576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CAPTCHA 검증</a:t>
            </a:r>
            <a:r>
              <a:rPr lang="en-US" sz="1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 T3-04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79476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대기열 통과와 좌석 조회·선점 사이에 CAPTCHA 적용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2062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C2A2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기준  </a:t>
            </a: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사용자·경기·Queue-Token에 연결된 검증 결과의 만료·위조·재사용 차단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700016"/>
            <a:ext cx="11185855" cy="0"/>
          </a:xfrm>
          <a:prstGeom prst="line">
            <a:avLst/>
          </a:prstGeom>
          <a:noFill/>
          <a:ln w="9525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02920" y="486460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대기열 진입 게이트</a:t>
            </a:r>
            <a:r>
              <a:rPr lang="en-US" sz="1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 T3-05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1937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경기 선택 시점에 순번 없는 1차 진입 게이트 적용, 거절 응답 규격화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60527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C2A2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기준  </a:t>
            </a: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게이트 적용 전후 진입 API p99·오류율 비교로 완충 효과 수치화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Re:Seat · 3차(최종) 프로젝트 발표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04-C  </a:t>
            </a:r>
            <a:r>
              <a:rPr lang="en-US" sz="12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수행 결과 — 경기·좌석·예약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071055" y="274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자격·수량 · 취소재선점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C. 경기·좌석·예약 — 자격 검증과 취소 이후 흐름 완성</a:t>
            </a:r>
            <a:endParaRPr lang="en-US" sz="2500" dirty="0">
              <a:solidFill>
                <a:srgbClr val="1D2D3D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02920" y="135331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누가, 몇 좌석까지 선점할 수 있는지를 서버가 강제하고, 취소된 좌석이 안전하게 다시 예매 가능해지도록 흐름을 완성했습니다.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02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예매 자격·수량 게이트</a:t>
            </a:r>
            <a:r>
              <a:rPr lang="en-US" sz="1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 T3-02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24942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본인 인증 여부와 누적 보유 좌석 수(HOLDING 예약 + ISSUED/REFUND_PENDING/REFUND_FAILED 티켓)를 좌석 선점 API에서 검증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660904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C2A2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기준  </a:t>
            </a: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미인증 선점 403 차단 100%, 1좌석씩 반복 선점 포함 누적 2매 초과 0건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11185855" cy="0"/>
          </a:xfrm>
          <a:prstGeom prst="line">
            <a:avLst/>
          </a:prstGeom>
          <a:noFill/>
          <a:ln w="9525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3319272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좌석 취소·재선점 흐름</a:t>
            </a:r>
            <a:r>
              <a:rPr lang="en-US" sz="1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 T3-03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648456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예약·티켓 취소 시 좌석 반환 후 즉시 재선점 가능 상태로 전환, 재선점 시 HOLD 상한 보정 규칙 적용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059936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C2A2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기준  </a:t>
            </a: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취소·재선점 동시 요청에서 수량 초과 0건, 좌석 상태 불일치 0건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Re:Seat · 3차(최종) 프로젝트 발표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04-D  </a:t>
            </a:r>
            <a:r>
              <a:rPr lang="en-US" sz="12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수행 결과 — 결제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071055" y="274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부분 환불 · PG 복구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D. 결제 — 부분 환불과 PG 상태 기반 복구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5331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일부 티켓만 취소해도 금액·좌석이 정확히 맞아떨어지도록, PG 응답이 불명확해도 최종 상태가 항상 일치하도록 만들었습니다.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02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부분 환불</a:t>
            </a:r>
            <a:r>
              <a:rPr lang="en-US" sz="1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 T3-06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24942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PaymentService.cancelPartial(paymentId, ticketId, cancelAmount) 구현, payment_cancels 엔티티(PENDING/DONE/FAILED) 신설, 취소 이력을 PG 호출 전에 선기록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660904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C2A2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기준  </a:t>
            </a: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선택 티켓만 취소되고 나머지는 유지, 사용·환불된 티켓의 중복 요청은 DB 단계에서 차단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11185855" cy="0"/>
          </a:xfrm>
          <a:prstGeom prst="line">
            <a:avLst/>
          </a:prstGeom>
          <a:noFill/>
          <a:ln w="9525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3319272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PG 상태 연동 복구</a:t>
            </a:r>
            <a:r>
              <a:rPr lang="en-US" sz="1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 T3-07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648456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승인 불명확(CONFIRM_UNCERTAIN)·취소 불명확(CANCEL_UNCERTAIN) 구분, PENDING 잔류 행 복구 스케줄러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059936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C2A2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기준  </a:t>
            </a: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PG 재조회 결과로 관련 도메인을 멱등하게 복구, 재시도·실패 이력 기록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553712"/>
            <a:ext cx="11185855" cy="0"/>
          </a:xfrm>
          <a:prstGeom prst="line">
            <a:avLst/>
          </a:prstGeom>
          <a:noFill/>
          <a:ln w="9525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02920" y="4718304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결제·주문 상태 확장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04748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orders에 PARTIALLY_CANCELED 추가, payments.canceled_amount 누적으로 전이 판정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Re:Seat · 3차(최종) 프로젝트 발표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04-E  </a:t>
            </a:r>
            <a:r>
              <a:rPr lang="en-US" sz="12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수행 결과 — 티켓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071055" y="274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상태 세분화 · 통합 조회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E. 티켓 — 상태를 세분화하고, 흩어진 정보를 한 화면으로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5331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환불 중과 환불 실패를 구분해야 좌석 반환 시점을 정확히 판단할 수 있어, 티켓 상태를 6종으로 분리했습니다.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1" y="1905737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티켓 상태 6종 전이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1" y="2234921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ISSUED → REFUND_PENDING → REFUNDED(환불 성공) / → REFUND_FAILED → REFUND_PENDING(재시도) / → USED_ENTERED(QR 검표) / → USED_NO_SHOW(배치)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1" y="2756129"/>
            <a:ext cx="5669280" cy="0"/>
          </a:xfrm>
          <a:prstGeom prst="line">
            <a:avLst/>
          </a:prstGeom>
          <a:noFill/>
          <a:ln w="9525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02921" y="2920721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마이페이지 통합 조회</a:t>
            </a:r>
            <a:r>
              <a:rPr lang="en-US" sz="1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 T3-13b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249905"/>
            <a:ext cx="62201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GET /api/v1/tickets/me — 티켓 기준으로 경기·좌석·주문·결제·환불 정보 조합, group 필터로 탭 구분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1" y="3661385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C2A2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기준  </a:t>
            </a: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B·C·D가 조회 전용 메서드 제공, E가 조합, A가 회원정보 제공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20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관리자 티켓 기능</a:t>
            </a:r>
            <a:r>
              <a:rPr lang="en-US" altLang="ko-KR" sz="1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 T3-08, T3-12</a:t>
            </a:r>
            <a:endParaRPr lang="en-US" altLang="ko-K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575523"/>
            <a:ext cx="3843479" cy="1555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ea typeface="Pretendard Variable" pitchFamily="34" charset="-122"/>
                <a:cs typeface="Pretendard Variable" pitchFamily="34" charset="-120"/>
              </a:rPr>
              <a:t>QR 검표·재발급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ea typeface="Pretendard Variable" pitchFamily="34" charset="-122"/>
                <a:cs typeface="Pretendard Variable" pitchFamily="34" charset="-120"/>
              </a:rPr>
              <a:t>회원별 티켓 상태 확인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ea typeface="Pretendard Variable" pitchFamily="34" charset="-122"/>
                <a:cs typeface="Pretendard Variable" pitchFamily="34" charset="-120"/>
              </a:rPr>
              <a:t>사유 기반 강제 취소 (작업자·사유 기록)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ea typeface="Pretendard Variable" pitchFamily="34" charset="-122"/>
                <a:cs typeface="Pretendard Variable" pitchFamily="34" charset="-120"/>
              </a:rPr>
              <a:t>일괄(bulk) 취소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ea typeface="Pretendard Variable" pitchFamily="34" charset="-122"/>
                <a:cs typeface="Pretendard Variable" pitchFamily="34" charset="-120"/>
              </a:rPr>
              <a:t>REFUND_FAILED 티켓 목록 조회·수동 처리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Re:Seat · 3차(최종) 프로젝트 발표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04-공통  </a:t>
            </a:r>
            <a:r>
              <a:rPr lang="en-US" sz="12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수행 결과 — 화면 통합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071055" y="274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홈 · 마이페이지 · 혼잡도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홈 · 마이페이지 화면 통합 및 실시간 혼잡도 안내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5331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 페어 프로그래밍으로 프론트엔드를 구현하고, 서울시 실시간 도시데이터를 연동해 구장 주변 혼잡도를 안내합니다.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36066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20624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027322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20624" y="4032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027322" y="4032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2093976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A3A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T3-13a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2386584"/>
            <a:ext cx="32043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홈 통합 조회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" y="2798064"/>
            <a:ext cx="320436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당일 경기·날씨·구장 정보를 서버가 집계해 단일 응답 제공, 캐시·타임아웃·폴백은 서버 책임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2498" y="1874520"/>
            <a:ext cx="36066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4210202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816901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210202" y="4032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816901" y="4032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493666" y="2093976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A3A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T3-13c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493666" y="2386584"/>
            <a:ext cx="32043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홈·마이페이지 화면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93666" y="2798064"/>
            <a:ext cx="320436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홈에서 예매로 이동, 마이페이지에서 예매 생명주기 조회·취소. 지정된 API만 호출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82077" y="1874520"/>
            <a:ext cx="36066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7999781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606479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999781" y="4032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606479" y="4032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BC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83245" y="2093976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A3A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T3-14 연계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83245" y="2386584"/>
            <a:ext cx="32043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실시간 혼잡도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83245" y="2798064"/>
            <a:ext cx="320436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잠실야구장 주변 게이트·지하철·먹거리 구역을 4단계(여유~붐빔)로 안내, 동선 팁 제공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3072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혼잡도 정보 구성 (A 외부 호출 + C 구장 좌표)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03072" y="512064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구역 분류: 출입구 · 대중교통 · 먹거리/주차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03072" y="544982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혼잡도 4단계(여유/보통/약간 붐빔/붐빔)와 게이트별 대기시간, 우회 경로를 함께 안내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Re:Seat · 3차(최종) 프로젝트 발표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63477"/>
            <a:ext cx="10988233" cy="1587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71304"/>
              </a:lnSpc>
            </a:pPr>
            <a:r>
              <a:rPr lang="en-US" sz="15001" b="1" kern="0" spc="-450" dirty="0">
                <a:solidFill>
                  <a:srgbClr val="94BCE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15001" dirty="0"/>
          </a:p>
        </p:txBody>
      </p:sp>
      <p:sp>
        <p:nvSpPr>
          <p:cNvPr id="3" name="Text 1"/>
          <p:cNvSpPr/>
          <p:nvPr/>
        </p:nvSpPr>
        <p:spPr>
          <a:xfrm>
            <a:off x="609600" y="3577977"/>
            <a:ext cx="11069256" cy="76502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97473"/>
              </a:lnSpc>
            </a:pPr>
            <a:r>
              <a:rPr lang="en-US" sz="5200" b="1" kern="0" spc="-52" dirty="0">
                <a:solidFill>
                  <a:srgbClr val="F2F2F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테스트 · 검증 결과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609600" y="4495404"/>
            <a:ext cx="1778000" cy="6350"/>
          </a:xfrm>
          <a:prstGeom prst="rect">
            <a:avLst/>
          </a:prstGeom>
          <a:solidFill>
            <a:srgbClr val="749DC4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5" name="Text 3"/>
          <p:cNvSpPr/>
          <p:nvPr/>
        </p:nvSpPr>
        <p:spPr>
          <a:xfrm>
            <a:off x="609600" y="4679553"/>
            <a:ext cx="10988233" cy="3276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134054"/>
              </a:lnSpc>
            </a:pPr>
            <a:r>
              <a:rPr lang="ko-KR" altLang="en-US" sz="1600" dirty="0">
                <a:solidFill>
                  <a:srgbClr val="B5D9F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Queue · 좌석 선점 · 예매 상태 · 결제 — k6 성능·동시성 검증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497397" y="922101"/>
            <a:ext cx="1118585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[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Queue</a:t>
            </a:r>
            <a:r>
              <a:rPr lang="en-US"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]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동시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진입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·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등록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완료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EC2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성능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테스트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결과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(k6)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395" y="1371160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EC2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배포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환경에서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100→500명까지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순차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부하를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걸어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접수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(202)와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실제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등록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완료를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분리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1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측정했습니다</a:t>
            </a:r>
            <a:r>
              <a:rPr sz="1200" b="0" i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396" y="1712090"/>
            <a:ext cx="11185855" cy="460000"/>
          </a:xfrm>
          <a:prstGeom prst="rect">
            <a:avLst/>
          </a:prstGeom>
          <a:solidFill>
            <a:srgbClr val="F2F2F3"/>
          </a:solidFill>
          <a:ln w="12700">
            <a:solidFill>
              <a:srgbClr val="C7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5996" y="1849757"/>
            <a:ext cx="107286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●  </a:t>
            </a:r>
            <a:r>
              <a:rPr sz="12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측정</a:t>
            </a:r>
            <a:r>
              <a:rPr sz="12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완료</a:t>
            </a:r>
            <a:r>
              <a:rPr sz="12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EC2 Ubuntu · RunId queue-ec2-20260915-134218 · </a:t>
            </a:r>
            <a:r>
              <a:rPr sz="12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테스트</a:t>
            </a:r>
            <a:r>
              <a:rPr sz="12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경기</a:t>
            </a:r>
            <a:r>
              <a:rPr sz="12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ID 378 · </a:t>
            </a:r>
            <a:r>
              <a:rPr sz="12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서버</a:t>
            </a:r>
            <a:r>
              <a:rPr sz="12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5xx 0건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85015"/>
              </p:ext>
            </p:extLst>
          </p:nvPr>
        </p:nvGraphicFramePr>
        <p:xfrm>
          <a:off x="5868364" y="2314598"/>
          <a:ext cx="5814886" cy="2858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70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8294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VU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202 </a:t>
                      </a:r>
                      <a:r>
                        <a:rPr sz="1000" b="1" dirty="0" err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접수</a:t>
                      </a:r>
                      <a:r>
                        <a:rPr sz="10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성공률</a:t>
                      </a:r>
                      <a:endParaRPr sz="1000" b="1" dirty="0">
                        <a:solidFill>
                          <a:srgbClr val="9C2A2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접수</a:t>
                      </a:r>
                      <a:r>
                        <a:rPr sz="10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후 </a:t>
                      </a:r>
                      <a:r>
                        <a:rPr sz="1000" b="1" dirty="0" err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등록</a:t>
                      </a:r>
                      <a:r>
                        <a:rPr sz="10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완료율</a:t>
                      </a:r>
                      <a:endParaRPr sz="1000" b="1" dirty="0">
                        <a:solidFill>
                          <a:srgbClr val="9C2A2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접수</a:t>
                      </a:r>
                      <a:r>
                        <a:rPr sz="10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p99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서버</a:t>
                      </a:r>
                      <a:r>
                        <a:rPr sz="10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5xx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94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100명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100%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100%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1.35초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0건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294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200명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77%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98.1%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1.96초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0건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29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300명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5.33%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1.98초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0건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29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400명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7.00%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7.14%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2.00초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0건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29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500명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5.60%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3.57%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2.00초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0건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29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합계(1,500회)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21.73%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77.91%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—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0건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497394" y="2314599"/>
            <a:ext cx="5058454" cy="409499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23" name="Picture 22" descr="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2" y="2381055"/>
            <a:ext cx="4880958" cy="13561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74195" y="5423260"/>
            <a:ext cx="582041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결과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해석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74195" y="5752685"/>
            <a:ext cx="5820410" cy="6569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300명부터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접수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성공률·등록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완료율이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급락하지만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5xx는 0건 —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실패는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2초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응답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제한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안에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못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들어온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네트워크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오류가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중심입니다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500명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구간에서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HikariCP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pending 185가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관측돼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DB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커넥션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정황이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있습니다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연속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수집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아님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병목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단독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확정은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보류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).</a:t>
            </a: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1BF8F9B5-072A-A9E8-2076-02DD58DEB66A}"/>
              </a:ext>
            </a:extLst>
          </p:cNvPr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05  </a:t>
            </a:r>
            <a:r>
              <a:rPr sz="1200" b="1">
                <a:solidFill>
                  <a:srgbClr val="1D2D3D"/>
                </a:solidFill>
                <a:latin typeface="Pretendard Variable"/>
              </a:rPr>
              <a:t>수행 결과 — 테스트·검증</a:t>
            </a:r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8AD2BB73-9E05-D768-602F-7AB69EEB1348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0F545591-7319-5BAA-4E2D-CEE76F667245}"/>
              </a:ext>
            </a:extLst>
          </p:cNvPr>
          <p:cNvSpPr txBox="1"/>
          <p:nvPr/>
        </p:nvSpPr>
        <p:spPr>
          <a:xfrm>
            <a:off x="7071055" y="274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Queue · k6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0615E95-AAC5-633C-61EA-E58B46921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2" y="3766717"/>
            <a:ext cx="4880958" cy="1458568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640F489-C780-463B-AF2A-0F143FCE78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3959"/>
          <a:stretch>
            <a:fillRect/>
          </a:stretch>
        </p:blipFill>
        <p:spPr>
          <a:xfrm>
            <a:off x="630023" y="5256593"/>
            <a:ext cx="4880958" cy="108914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5B6472"/>
                </a:solidFill>
                <a:latin typeface="Pretendard Variable"/>
              </a:rPr>
              <a:t>Re:Seat · 3차(최종) 프로젝트 발표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latin typeface="Pretendard Variable"/>
              </a:rPr>
              <a:t>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492240"/>
            <a:ext cx="73152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Re:Seat · 3차(최종) 프로젝트 발표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1575" y="6492240"/>
            <a:ext cx="131446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882283"/>
            <a:ext cx="1118585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2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[Reservation]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선점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분산락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동시성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테스트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결과</a:t>
            </a:r>
            <a:endParaRPr sz="22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1443859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락을 적용하지 않은 기준선(Before)과 Redisson 분산락 적용 후(After)를 수치로 대조했습니다.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920240"/>
            <a:ext cx="11185855" cy="460000"/>
          </a:xfrm>
          <a:prstGeom prst="rect">
            <a:avLst/>
          </a:prstGeom>
          <a:solidFill>
            <a:srgbClr val="F2F2F3"/>
          </a:solidFill>
          <a:ln w="12700">
            <a:solidFill>
              <a:srgbClr val="C7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2065601"/>
            <a:ext cx="1072865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● 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측정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완료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Before(락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미적용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 → After(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분산락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 →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전체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회귀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reservation.service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16개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테스트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100%)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712740"/>
              </p:ext>
            </p:extLst>
          </p:nvPr>
        </p:nvGraphicFramePr>
        <p:xfrm>
          <a:off x="502920" y="2841675"/>
          <a:ext cx="11185855" cy="1636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5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9021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9C2A2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구분</a:t>
                      </a:r>
                      <a:endParaRPr sz="1100" b="1" dirty="0">
                        <a:solidFill>
                          <a:srgbClr val="9C2A21"/>
                        </a:solidFill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9C2A2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선점</a:t>
                      </a:r>
                      <a:r>
                        <a:rPr sz="1100" b="1" dirty="0">
                          <a:solidFill>
                            <a:srgbClr val="9C2A2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9C2A2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성공</a:t>
                      </a:r>
                      <a:endParaRPr sz="1100" b="1" dirty="0">
                        <a:solidFill>
                          <a:srgbClr val="9C2A21"/>
                        </a:solidFill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차단 방식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DataIntegrityViolation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LOCK_FAILED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02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Before · 락 미적용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9C2A2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1건 (</a:t>
                      </a:r>
                      <a:r>
                        <a:rPr sz="1100" b="1" dirty="0" err="1">
                          <a:solidFill>
                            <a:srgbClr val="9C2A2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우연히</a:t>
                      </a:r>
                      <a:r>
                        <a:rPr sz="1100" b="1" dirty="0">
                          <a:solidFill>
                            <a:srgbClr val="9C2A2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9C2A2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직렬화</a:t>
                      </a:r>
                      <a:r>
                        <a:rPr sz="1100" b="1" dirty="0">
                          <a:solidFill>
                            <a:srgbClr val="9C2A2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DB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유니크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제약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(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최후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방어선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1건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—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02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After · Redisson 분산락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1건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SEAT_ALREADY_HELD(409)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서비스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레벨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차단</a:t>
                      </a:r>
                      <a:endParaRPr sz="1100" b="0" dirty="0">
                        <a:solidFill>
                          <a:srgbClr val="1D2D3D"/>
                        </a:solidFill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0건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0건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02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After · 교차 순서 다좌석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1건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15초 내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데드락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없이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종료</a:t>
                      </a:r>
                      <a:endParaRPr sz="1100" b="0" dirty="0">
                        <a:solidFill>
                          <a:srgbClr val="1D2D3D"/>
                        </a:solidFill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0건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1건 (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정상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경합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4837480"/>
            <a:ext cx="1118585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핵심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발견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서비스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레벨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차단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부재의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위험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5257232"/>
            <a:ext cx="11185855" cy="6569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Before는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서비스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레벨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차단이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없어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나머지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9건이 DB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유니크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제약에서야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막혔고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이는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사용자에게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500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에러가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노출될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수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있는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구조였습니다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</a:t>
            </a:r>
            <a:endParaRPr lang="en-US" sz="120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l">
              <a:lnSpc>
                <a:spcPct val="122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After는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Redisson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분산락으로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gameSeatId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오름차순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정렬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후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락을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획득해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데드락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순환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차단하고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초과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요청을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409(SEAT_ALREADY_HELD)로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명시적으로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반환합니다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</a:t>
            </a:r>
            <a:endParaRPr lang="en-US" sz="120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l">
              <a:lnSpc>
                <a:spcPct val="122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reservation.service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패키지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전체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회귀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16개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테스트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100%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통과로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재확인했습니다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A113672-4B1B-EE25-CA04-25C64D149903}"/>
              </a:ext>
            </a:extLst>
          </p:cNvPr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05  </a:t>
            </a:r>
            <a:r>
              <a:rPr sz="1200" b="1">
                <a:solidFill>
                  <a:srgbClr val="1D2D3D"/>
                </a:solidFill>
                <a:latin typeface="Pretendard Variable"/>
              </a:rPr>
              <a:t>수행 결과 — 테스트·검증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45CC2B4C-42FE-B29C-0064-986C710ED6C8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5C971DE0-4C0A-3400-6782-8CA9DEE25341}"/>
              </a:ext>
            </a:extLst>
          </p:cNvPr>
          <p:cNvSpPr txBox="1"/>
          <p:nvPr/>
        </p:nvSpPr>
        <p:spPr>
          <a:xfrm>
            <a:off x="7071055" y="274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동시성</a:t>
            </a:r>
            <a:endParaRPr lang="en-US" sz="110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492240"/>
            <a:ext cx="73152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Re:Seat</a:t>
            </a:r>
            <a:r>
              <a:rPr sz="85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· 3차(</a:t>
            </a:r>
            <a:r>
              <a:rPr sz="85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최종</a:t>
            </a:r>
            <a:r>
              <a:rPr sz="85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 </a:t>
            </a:r>
            <a:r>
              <a:rPr sz="85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프로젝트</a:t>
            </a:r>
            <a:r>
              <a:rPr sz="85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85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발표</a:t>
            </a:r>
            <a:endParaRPr sz="85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31575" y="6492240"/>
            <a:ext cx="131446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920182"/>
            <a:ext cx="1118585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altLang="ko-KR" sz="22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[Reservation]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사용자·경기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단위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락 —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동시성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통합</a:t>
            </a:r>
            <a:r>
              <a:rPr sz="22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2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테스트</a:t>
            </a:r>
            <a:endParaRPr sz="22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1443859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동일 사용자가 서로 다른 좌석 3개에 동시 요청해도 누적 보유 상한(2매)이 지켜지는지 검증했습니다.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920240"/>
            <a:ext cx="11185855" cy="460000"/>
          </a:xfrm>
          <a:prstGeom prst="rect">
            <a:avLst/>
          </a:prstGeom>
          <a:solidFill>
            <a:srgbClr val="F2F2F3"/>
          </a:solidFill>
          <a:ln w="12700">
            <a:solidFill>
              <a:srgbClr val="C7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2065601"/>
            <a:ext cx="1072865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● 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측정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완료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단위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락으로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방어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못한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지점을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사용자·경기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단위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락으로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서비스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레벨</a:t>
            </a:r>
            <a:r>
              <a:rPr sz="1100" b="1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1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차단</a:t>
            </a:r>
            <a:endParaRPr sz="1100" b="1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161314"/>
              </p:ext>
            </p:extLst>
          </p:nvPr>
        </p:nvGraphicFramePr>
        <p:xfrm>
          <a:off x="502920" y="2563120"/>
          <a:ext cx="111858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5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9C2A2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항목</a:t>
                      </a:r>
                      <a:endParaRPr sz="1100" b="1" dirty="0">
                        <a:solidFill>
                          <a:srgbClr val="9C2A21"/>
                        </a:solidFill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수치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판정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선점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성공</a:t>
                      </a:r>
                      <a:endParaRPr sz="1100" b="0" dirty="0">
                        <a:solidFill>
                          <a:srgbClr val="1D2D3D"/>
                        </a:solidFill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2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✅ 상한만큼만 성공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MAX_SEAT_COUNT_EXCEEDED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✅ 초과 요청 정확히 차단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LOCK_FAILED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타임아웃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없음</a:t>
                      </a:r>
                      <a:endParaRPr sz="1100" b="0" dirty="0">
                        <a:solidFill>
                          <a:srgbClr val="1D2D3D"/>
                        </a:solidFill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예상 외 예외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✅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데드락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없음</a:t>
                      </a:r>
                      <a:endParaRPr sz="1100" b="0" dirty="0">
                        <a:solidFill>
                          <a:srgbClr val="1D2D3D"/>
                        </a:solidFill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reservation_seats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행 수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2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✅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성공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건수와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일치</a:t>
                      </a:r>
                      <a:endParaRPr sz="1100" b="0" dirty="0">
                        <a:solidFill>
                          <a:srgbClr val="1D2D3D"/>
                        </a:solidFill>
                        <a:latin typeface="+mn-lt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56472" y="5197480"/>
            <a:ext cx="1118585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핵심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발견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단위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락만으로는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못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막는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경합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6472" y="5515346"/>
            <a:ext cx="11185855" cy="431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락은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“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같은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”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경합만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막을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뿐, “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같은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사용자가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다른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좌석에서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”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보유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상한을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우회하는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경로는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방어하지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못합니다</a:t>
            </a:r>
            <a:r>
              <a:rPr lang="en-US"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  <a:p>
            <a:pPr algn="l">
              <a:lnSpc>
                <a:spcPct val="122000"/>
              </a:lnSpc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사용자·경기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락을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추가해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수량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검증을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정상적으로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직렬화했고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선점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성공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건수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(2)와 DB 행 수(2)가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일치해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over-booking 0건을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확인했습니다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39D8DE2E-5EDA-DCF9-3911-DB036D1DC9FB}"/>
              </a:ext>
            </a:extLst>
          </p:cNvPr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05  </a:t>
            </a:r>
            <a:r>
              <a:rPr sz="1200" b="1">
                <a:solidFill>
                  <a:srgbClr val="1D2D3D"/>
                </a:solidFill>
                <a:latin typeface="Pretendard Variable"/>
              </a:rPr>
              <a:t>수행 결과 — 테스트·검증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D99B498C-BF07-BC95-C1ED-3EBA1898012F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14FDE78F-84C9-0A7E-28C5-9B2E07C1769E}"/>
              </a:ext>
            </a:extLst>
          </p:cNvPr>
          <p:cNvSpPr txBox="1"/>
          <p:nvPr/>
        </p:nvSpPr>
        <p:spPr>
          <a:xfrm>
            <a:off x="7071055" y="274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altLang="en-US" sz="110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사용자·경기</a:t>
            </a:r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단위 </a:t>
            </a:r>
            <a:r>
              <a:rPr lang="ko-KR" altLang="en-US" sz="110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락</a:t>
            </a:r>
            <a:endParaRPr lang="en-US" sz="110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492240"/>
            <a:ext cx="73152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Re:Seat · 3차(최종) 프로젝트 발표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1575" y="6492240"/>
            <a:ext cx="134652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399" y="972962"/>
            <a:ext cx="1118585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200" b="1" i="0" dirty="0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[Reservation] </a:t>
            </a:r>
            <a:r>
              <a:rPr sz="2200" b="1" i="0" dirty="0" err="1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2200" b="1" i="0" dirty="0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200" b="1" i="0" dirty="0" err="1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선점</a:t>
            </a:r>
            <a:r>
              <a:rPr sz="2200" b="1" i="0" dirty="0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200" b="1" i="0" dirty="0" err="1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분산락</a:t>
            </a:r>
            <a:r>
              <a:rPr sz="2200" b="1" i="0" dirty="0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</a:t>
            </a:r>
            <a:r>
              <a:rPr sz="2200" b="1" i="0" dirty="0" err="1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안정성</a:t>
            </a:r>
            <a:r>
              <a:rPr sz="2200" b="1" i="0" dirty="0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200" b="1" i="0" dirty="0" err="1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검증</a:t>
            </a:r>
            <a:r>
              <a:rPr sz="2200" b="1" i="0" dirty="0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200" b="1" i="0" dirty="0" err="1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결과</a:t>
            </a:r>
            <a:r>
              <a:rPr lang="en-US" sz="2200" b="1" i="0" dirty="0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(k6)</a:t>
            </a:r>
            <a:endParaRPr sz="2200" b="1" i="0" dirty="0">
              <a:solidFill>
                <a:srgbClr val="1D2D3D"/>
              </a:solidFill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1484916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altLang="ko-KR" sz="1200" i="1" dirty="0">
                <a:solidFill>
                  <a:srgbClr val="5B6472"/>
                </a:solidFill>
              </a:rPr>
              <a:t>k6</a:t>
            </a:r>
            <a:r>
              <a:rPr lang="ko-KR" altLang="en-US" sz="1200" i="1" dirty="0">
                <a:solidFill>
                  <a:srgbClr val="5B6472"/>
                </a:solidFill>
              </a:rPr>
              <a:t>로 </a:t>
            </a:r>
            <a:r>
              <a:rPr lang="en-US" altLang="ko-KR" sz="1200" i="1" dirty="0">
                <a:solidFill>
                  <a:srgbClr val="5B6472"/>
                </a:solidFill>
              </a:rPr>
              <a:t>4</a:t>
            </a:r>
            <a:r>
              <a:rPr lang="ko-KR" altLang="en-US" sz="1200" i="1" dirty="0">
                <a:solidFill>
                  <a:srgbClr val="5B6472"/>
                </a:solidFill>
              </a:rPr>
              <a:t>가지 부하 시나리오</a:t>
            </a:r>
            <a:r>
              <a:rPr lang="en-US" altLang="ko-KR" sz="1200" i="1" dirty="0">
                <a:solidFill>
                  <a:srgbClr val="5B6472"/>
                </a:solidFill>
              </a:rPr>
              <a:t>(A~D)</a:t>
            </a:r>
            <a:r>
              <a:rPr lang="ko-KR" altLang="en-US" sz="1200" i="1" dirty="0">
                <a:solidFill>
                  <a:srgbClr val="5B6472"/>
                </a:solidFill>
              </a:rPr>
              <a:t>를 로컬</a:t>
            </a:r>
            <a:r>
              <a:rPr lang="en-US" altLang="ko-KR" sz="1200" i="1" dirty="0">
                <a:solidFill>
                  <a:srgbClr val="5B6472"/>
                </a:solidFill>
              </a:rPr>
              <a:t>(3</a:t>
            </a:r>
            <a:r>
              <a:rPr lang="ko-KR" altLang="en-US" sz="1200" i="1" dirty="0">
                <a:solidFill>
                  <a:srgbClr val="5B6472"/>
                </a:solidFill>
              </a:rPr>
              <a:t>회 반복</a:t>
            </a:r>
            <a:r>
              <a:rPr lang="en-US" altLang="ko-KR" sz="1200" i="1" dirty="0">
                <a:solidFill>
                  <a:srgbClr val="5B6472"/>
                </a:solidFill>
              </a:rPr>
              <a:t>)·AWS(1</a:t>
            </a:r>
            <a:r>
              <a:rPr lang="ko-KR" altLang="en-US" sz="1200" i="1" dirty="0">
                <a:solidFill>
                  <a:srgbClr val="5B6472"/>
                </a:solidFill>
              </a:rPr>
              <a:t>회</a:t>
            </a:r>
            <a:r>
              <a:rPr lang="en-US" altLang="ko-KR" sz="1200" i="1" dirty="0">
                <a:solidFill>
                  <a:srgbClr val="5B6472"/>
                </a:solidFill>
              </a:rPr>
              <a:t>)</a:t>
            </a:r>
            <a:r>
              <a:rPr lang="ko-KR" altLang="en-US" sz="1200" i="1" dirty="0">
                <a:solidFill>
                  <a:srgbClr val="5B6472"/>
                </a:solidFill>
              </a:rPr>
              <a:t>에서 측정해</a:t>
            </a:r>
            <a:r>
              <a:rPr lang="en-US" altLang="ko-KR" sz="1200" i="1" dirty="0">
                <a:solidFill>
                  <a:srgbClr val="5B6472"/>
                </a:solidFill>
              </a:rPr>
              <a:t>, </a:t>
            </a:r>
            <a:r>
              <a:rPr lang="ko-KR" altLang="en-US" sz="1200" i="1" dirty="0">
                <a:solidFill>
                  <a:srgbClr val="5B6472"/>
                </a:solidFill>
              </a:rPr>
              <a:t>반복 실행과 실제 배포 환경에서도 정합성이 유지되는지 확인했습니다</a:t>
            </a:r>
            <a:r>
              <a:rPr lang="en-US" altLang="ko-KR" sz="1200" i="1" dirty="0">
                <a:solidFill>
                  <a:srgbClr val="5B6472"/>
                </a:solidFill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20240"/>
            <a:ext cx="11185855" cy="460000"/>
          </a:xfrm>
          <a:prstGeom prst="rect">
            <a:avLst/>
          </a:prstGeom>
          <a:solidFill>
            <a:srgbClr val="F2F2F3"/>
          </a:solidFill>
          <a:ln w="12700">
            <a:solidFill>
              <a:srgbClr val="C7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2065601"/>
            <a:ext cx="1072865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 dirty="0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● </a:t>
            </a:r>
            <a:r>
              <a:rPr lang="ko-KR" altLang="en-US" sz="1100" b="1" dirty="0">
                <a:solidFill>
                  <a:srgbClr val="5B6472"/>
                </a:solidFill>
              </a:rPr>
              <a:t>측정 완료 </a:t>
            </a:r>
            <a:r>
              <a:rPr lang="en-US" altLang="ko-KR" sz="1100" b="1" dirty="0">
                <a:solidFill>
                  <a:srgbClr val="5B6472"/>
                </a:solidFill>
              </a:rPr>
              <a:t>— k6 </a:t>
            </a:r>
            <a:r>
              <a:rPr lang="ko-KR" altLang="en-US" sz="1100" b="1" dirty="0">
                <a:solidFill>
                  <a:srgbClr val="5B6472"/>
                </a:solidFill>
              </a:rPr>
              <a:t>시나리오 </a:t>
            </a:r>
            <a:r>
              <a:rPr lang="en-US" altLang="ko-KR" sz="1100" b="1" dirty="0">
                <a:solidFill>
                  <a:srgbClr val="5B6472"/>
                </a:solidFill>
              </a:rPr>
              <a:t>A~D · </a:t>
            </a:r>
            <a:r>
              <a:rPr lang="ko-KR" altLang="en-US" sz="1100" b="1" dirty="0">
                <a:solidFill>
                  <a:srgbClr val="5B6472"/>
                </a:solidFill>
              </a:rPr>
              <a:t>서버 </a:t>
            </a:r>
            <a:r>
              <a:rPr lang="en-US" altLang="ko-KR" sz="1100" b="1" dirty="0">
                <a:solidFill>
                  <a:srgbClr val="5B6472"/>
                </a:solidFill>
              </a:rPr>
              <a:t>5xx </a:t>
            </a:r>
            <a:r>
              <a:rPr lang="ko-KR" altLang="en-US" sz="1100" b="1" dirty="0">
                <a:solidFill>
                  <a:srgbClr val="5B6472"/>
                </a:solidFill>
              </a:rPr>
              <a:t>전 구간 </a:t>
            </a:r>
            <a:r>
              <a:rPr lang="en-US" altLang="ko-KR" sz="1100" b="1" dirty="0">
                <a:solidFill>
                  <a:srgbClr val="5B6472"/>
                </a:solidFill>
              </a:rPr>
              <a:t>0% · over-booking </a:t>
            </a:r>
            <a:r>
              <a:rPr lang="ko-KR" altLang="en-US" sz="1100" b="1" dirty="0">
                <a:solidFill>
                  <a:srgbClr val="5B6472"/>
                </a:solidFill>
              </a:rPr>
              <a:t>전 구간 </a:t>
            </a:r>
            <a:r>
              <a:rPr lang="en-US" altLang="ko-KR" sz="1100" b="1" dirty="0">
                <a:solidFill>
                  <a:srgbClr val="5B6472"/>
                </a:solidFill>
              </a:rPr>
              <a:t>0</a:t>
            </a:r>
            <a:r>
              <a:rPr lang="ko-KR" altLang="en-US" sz="1100" b="1" dirty="0">
                <a:solidFill>
                  <a:srgbClr val="5B6472"/>
                </a:solidFill>
              </a:rPr>
              <a:t>건</a:t>
            </a:r>
            <a:endParaRPr sz="1100" b="1" i="0" dirty="0">
              <a:solidFill>
                <a:srgbClr val="5B6472"/>
              </a:solidFill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BB60CC62-92DA-DB01-A9DA-558150D8CD6F}"/>
              </a:ext>
            </a:extLst>
          </p:cNvPr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6362A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05  </a:t>
            </a:r>
            <a:r>
              <a:rPr sz="1200" b="1">
                <a:solidFill>
                  <a:srgbClr val="1D2D3D"/>
                </a:solidFill>
              </a:rPr>
              <a:t>수행 결과 — 테스트·검증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236B41C8-A3DD-EA75-9196-EF755C0204DE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5DBE5278-DA5D-4AD7-0E1F-68E0981894BF}"/>
              </a:ext>
            </a:extLst>
          </p:cNvPr>
          <p:cNvSpPr txBox="1"/>
          <p:nvPr/>
        </p:nvSpPr>
        <p:spPr>
          <a:xfrm>
            <a:off x="7071055" y="274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altLang="en-US" sz="110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 선점 · 안정성</a:t>
            </a:r>
            <a:r>
              <a:rPr lang="en-US" altLang="ko-KR" sz="1100" dirty="0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endParaRPr lang="en-US" sz="1100" dirty="0">
              <a:solidFill>
                <a:srgbClr val="5B6472"/>
              </a:solidFill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3" name="Table 16">
            <a:extLst>
              <a:ext uri="{FF2B5EF4-FFF2-40B4-BE49-F238E27FC236}">
                <a16:creationId xmlns:a16="http://schemas.microsoft.com/office/drawing/2014/main" id="{266323C6-4644-55DC-65E6-E8FFAAB49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284169"/>
              </p:ext>
            </p:extLst>
          </p:nvPr>
        </p:nvGraphicFramePr>
        <p:xfrm>
          <a:off x="502920" y="2540240"/>
          <a:ext cx="11185855" cy="19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040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9C2A21"/>
                          </a:solidFill>
                          <a:latin typeface="+mn-lt"/>
                        </a:rPr>
                        <a:t>시나리오</a:t>
                      </a:r>
                      <a:endParaRPr sz="1100" b="1" dirty="0">
                        <a:solidFill>
                          <a:srgbClr val="9C2A21"/>
                        </a:solidFill>
                        <a:latin typeface="+mn-lt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</a:rPr>
                        <a:t>목적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</a:rPr>
                        <a:t>로컬 TPS(평균)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</a:rPr>
                        <a:t>AWS TPS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</a:rPr>
                        <a:t>409(정책적) 비율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4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A ·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</a:rPr>
                        <a:t>동일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</a:rPr>
                        <a:t>좌석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</a:rPr>
                        <a:t>경합</a:t>
                      </a:r>
                      <a:endParaRPr sz="1100" b="0" dirty="0">
                        <a:solidFill>
                          <a:srgbClr val="1D2D3D"/>
                        </a:solidFill>
                        <a:latin typeface="+mn-lt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</a:rPr>
                        <a:t>전역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 락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</a:rPr>
                        <a:t>아님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</a:rPr>
                        <a:t>재증명</a:t>
                      </a:r>
                      <a:endParaRPr sz="1100" b="0" dirty="0">
                        <a:solidFill>
                          <a:srgbClr val="1D2D3D"/>
                        </a:solidFill>
                        <a:latin typeface="+mn-lt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47.07/s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93.89/s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98%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B · 다른 좌석 병렬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</a:rPr>
                        <a:t>좌석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</a:rPr>
                        <a:t>단위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 락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</a:rPr>
                        <a:t>검증</a:t>
                      </a:r>
                      <a:endParaRPr sz="1100" b="0" dirty="0">
                        <a:solidFill>
                          <a:srgbClr val="1D2D3D"/>
                        </a:solidFill>
                        <a:latin typeface="+mn-lt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1D2D3D"/>
                          </a:solidFill>
                          <a:latin typeface="+mn-lt"/>
                        </a:rPr>
                        <a:t>66.97/s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66.32/s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0%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C · 인기 좌석 혼합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현실적 경합 패턴 재현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86.34/s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49.61/s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4~6% / 2%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D · 예매 오픈 스파이크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HikariCP 풀 고갈 지점 관찰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251.34/s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151.03/s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9C2A21"/>
                          </a:solidFill>
                          <a:latin typeface="+mn-lt"/>
                        </a:rPr>
                        <a:t>92.3%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17">
            <a:extLst>
              <a:ext uri="{FF2B5EF4-FFF2-40B4-BE49-F238E27FC236}">
                <a16:creationId xmlns:a16="http://schemas.microsoft.com/office/drawing/2014/main" id="{E1961004-3DBE-228C-46F8-A6CDFA0DDA48}"/>
              </a:ext>
            </a:extLst>
          </p:cNvPr>
          <p:cNvSpPr/>
          <p:nvPr/>
        </p:nvSpPr>
        <p:spPr>
          <a:xfrm>
            <a:off x="497399" y="4633060"/>
            <a:ext cx="5394960" cy="1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017570-2A9E-0702-BA8C-B763C25D0322}"/>
              </a:ext>
            </a:extLst>
          </p:cNvPr>
          <p:cNvSpPr txBox="1"/>
          <p:nvPr/>
        </p:nvSpPr>
        <p:spPr>
          <a:xfrm>
            <a:off x="680279" y="4835319"/>
            <a:ext cx="5029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D2D3D"/>
                </a:solidFill>
              </a:rPr>
              <a:t>B &gt; A: </a:t>
            </a:r>
            <a:r>
              <a:rPr sz="1400" b="1" i="0" dirty="0" err="1">
                <a:solidFill>
                  <a:srgbClr val="1D2D3D"/>
                </a:solidFill>
              </a:rPr>
              <a:t>전역</a:t>
            </a:r>
            <a:r>
              <a:rPr sz="1400" b="1" i="0" dirty="0">
                <a:solidFill>
                  <a:srgbClr val="1D2D3D"/>
                </a:solidFill>
              </a:rPr>
              <a:t> </a:t>
            </a:r>
            <a:r>
              <a:rPr sz="1400" b="1" i="0" dirty="0" err="1">
                <a:solidFill>
                  <a:srgbClr val="1D2D3D"/>
                </a:solidFill>
              </a:rPr>
              <a:t>락이</a:t>
            </a:r>
            <a:r>
              <a:rPr sz="1400" b="1" i="0" dirty="0">
                <a:solidFill>
                  <a:srgbClr val="1D2D3D"/>
                </a:solidFill>
              </a:rPr>
              <a:t> </a:t>
            </a:r>
            <a:r>
              <a:rPr sz="1400" b="1" i="0" dirty="0" err="1">
                <a:solidFill>
                  <a:srgbClr val="1D2D3D"/>
                </a:solidFill>
              </a:rPr>
              <a:t>아님을</a:t>
            </a:r>
            <a:r>
              <a:rPr sz="1400" b="1" i="0" dirty="0">
                <a:solidFill>
                  <a:srgbClr val="1D2D3D"/>
                </a:solidFill>
              </a:rPr>
              <a:t> </a:t>
            </a:r>
            <a:r>
              <a:rPr sz="1400" b="1" i="0" dirty="0" err="1">
                <a:solidFill>
                  <a:srgbClr val="1D2D3D"/>
                </a:solidFill>
              </a:rPr>
              <a:t>재확인</a:t>
            </a:r>
            <a:endParaRPr sz="1400" b="1" i="0" dirty="0">
              <a:solidFill>
                <a:srgbClr val="1D2D3D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E1BD3A-FFC3-C81F-8BCA-9DC062B55397}"/>
              </a:ext>
            </a:extLst>
          </p:cNvPr>
          <p:cNvSpPr txBox="1"/>
          <p:nvPr/>
        </p:nvSpPr>
        <p:spPr>
          <a:xfrm>
            <a:off x="680279" y="5216661"/>
            <a:ext cx="5029200" cy="389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 err="1">
                <a:solidFill>
                  <a:srgbClr val="5B6472"/>
                </a:solidFill>
              </a:rPr>
              <a:t>동일</a:t>
            </a:r>
            <a:r>
              <a:rPr sz="1100" b="0" i="0" dirty="0">
                <a:solidFill>
                  <a:srgbClr val="5B6472"/>
                </a:solidFill>
              </a:rPr>
              <a:t> VU 50명 </a:t>
            </a:r>
            <a:r>
              <a:rPr sz="1100" b="0" i="0" dirty="0" err="1">
                <a:solidFill>
                  <a:srgbClr val="5B6472"/>
                </a:solidFill>
              </a:rPr>
              <a:t>기준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로컬</a:t>
            </a:r>
            <a:r>
              <a:rPr sz="1100" b="0" i="0" dirty="0">
                <a:solidFill>
                  <a:srgbClr val="5B6472"/>
                </a:solidFill>
              </a:rPr>
              <a:t> 3회 </a:t>
            </a:r>
            <a:r>
              <a:rPr sz="1100" b="0" i="0" dirty="0" err="1">
                <a:solidFill>
                  <a:srgbClr val="5B6472"/>
                </a:solidFill>
              </a:rPr>
              <a:t>전부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시나리오</a:t>
            </a:r>
            <a:r>
              <a:rPr sz="1100" b="0" i="0" dirty="0">
                <a:solidFill>
                  <a:srgbClr val="5B6472"/>
                </a:solidFill>
              </a:rPr>
              <a:t> B(</a:t>
            </a:r>
            <a:r>
              <a:rPr sz="1100" b="0" i="0" dirty="0" err="1">
                <a:solidFill>
                  <a:srgbClr val="5B6472"/>
                </a:solidFill>
              </a:rPr>
              <a:t>병렬</a:t>
            </a:r>
            <a:r>
              <a:rPr sz="1100" b="0" i="0" dirty="0">
                <a:solidFill>
                  <a:srgbClr val="5B6472"/>
                </a:solidFill>
              </a:rPr>
              <a:t>)가 A(</a:t>
            </a:r>
            <a:r>
              <a:rPr sz="1100" b="0" i="0" dirty="0" err="1">
                <a:solidFill>
                  <a:srgbClr val="5B6472"/>
                </a:solidFill>
              </a:rPr>
              <a:t>경합</a:t>
            </a:r>
            <a:r>
              <a:rPr sz="1100" b="0" i="0" dirty="0">
                <a:solidFill>
                  <a:srgbClr val="5B6472"/>
                </a:solidFill>
              </a:rPr>
              <a:t>)</a:t>
            </a:r>
            <a:r>
              <a:rPr sz="1100" b="0" i="0" dirty="0" err="1">
                <a:solidFill>
                  <a:srgbClr val="5B6472"/>
                </a:solidFill>
              </a:rPr>
              <a:t>보다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처리량이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높았습니다</a:t>
            </a:r>
            <a:r>
              <a:rPr lang="en-US" sz="1100" dirty="0">
                <a:solidFill>
                  <a:srgbClr val="5B6472"/>
                </a:solidFill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좌석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단위</a:t>
            </a:r>
            <a:r>
              <a:rPr sz="1100" b="0" i="0" dirty="0">
                <a:solidFill>
                  <a:srgbClr val="5B6472"/>
                </a:solidFill>
              </a:rPr>
              <a:t> 락(</a:t>
            </a:r>
            <a:r>
              <a:rPr sz="1100" b="0" i="0" dirty="0" err="1">
                <a:solidFill>
                  <a:srgbClr val="5B6472"/>
                </a:solidFill>
              </a:rPr>
              <a:t>lock:game-seat</a:t>
            </a:r>
            <a:r>
              <a:rPr sz="1100" b="0" i="0" dirty="0">
                <a:solidFill>
                  <a:srgbClr val="5B6472"/>
                </a:solidFill>
              </a:rPr>
              <a:t>:{id})이 </a:t>
            </a:r>
            <a:r>
              <a:rPr sz="1100" b="0" i="0" dirty="0" err="1">
                <a:solidFill>
                  <a:srgbClr val="5B6472"/>
                </a:solidFill>
              </a:rPr>
              <a:t>전역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락으로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직렬화되지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않음을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확인</a:t>
            </a:r>
            <a:r>
              <a:rPr lang="ko-KR" altLang="en-US" sz="1100" b="0" i="0" dirty="0">
                <a:solidFill>
                  <a:srgbClr val="5B6472"/>
                </a:solidFill>
              </a:rPr>
              <a:t>했습니다</a:t>
            </a:r>
            <a:r>
              <a:rPr lang="en-US" altLang="ko-KR" sz="1100" b="0" i="0" dirty="0">
                <a:solidFill>
                  <a:srgbClr val="5B6472"/>
                </a:solidFill>
              </a:rPr>
              <a:t>.</a:t>
            </a:r>
            <a:endParaRPr sz="1100" b="0" i="0" dirty="0">
              <a:solidFill>
                <a:srgbClr val="5B6472"/>
              </a:solidFill>
            </a:endParaRPr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ECE8CCF8-461A-4987-BF25-9F3768A61452}"/>
              </a:ext>
            </a:extLst>
          </p:cNvPr>
          <p:cNvSpPr/>
          <p:nvPr/>
        </p:nvSpPr>
        <p:spPr>
          <a:xfrm>
            <a:off x="6166679" y="4633060"/>
            <a:ext cx="5516575" cy="1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B455F6-A5DF-82A2-D90C-6FF5E5AA9DA1}"/>
              </a:ext>
            </a:extLst>
          </p:cNvPr>
          <p:cNvSpPr txBox="1"/>
          <p:nvPr/>
        </p:nvSpPr>
        <p:spPr>
          <a:xfrm>
            <a:off x="6360906" y="4835319"/>
            <a:ext cx="515081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D2D3D"/>
                </a:solidFill>
              </a:rPr>
              <a:t>D: </a:t>
            </a:r>
            <a:r>
              <a:rPr sz="1400" b="1" i="0" dirty="0" err="1">
                <a:solidFill>
                  <a:srgbClr val="1D2D3D"/>
                </a:solidFill>
              </a:rPr>
              <a:t>HikariCP</a:t>
            </a:r>
            <a:r>
              <a:rPr sz="1400" b="1" i="0" dirty="0">
                <a:solidFill>
                  <a:srgbClr val="1D2D3D"/>
                </a:solidFill>
              </a:rPr>
              <a:t> 풀(</a:t>
            </a:r>
            <a:r>
              <a:rPr sz="1400" b="1" i="0" dirty="0" err="1">
                <a:solidFill>
                  <a:srgbClr val="1D2D3D"/>
                </a:solidFill>
              </a:rPr>
              <a:t>크기</a:t>
            </a:r>
            <a:r>
              <a:rPr sz="1400" b="1" i="0" dirty="0">
                <a:solidFill>
                  <a:srgbClr val="1D2D3D"/>
                </a:solidFill>
              </a:rPr>
              <a:t> 10) </a:t>
            </a:r>
            <a:r>
              <a:rPr sz="1400" b="1" i="0" dirty="0" err="1">
                <a:solidFill>
                  <a:srgbClr val="1D2D3D"/>
                </a:solidFill>
              </a:rPr>
              <a:t>고갈</a:t>
            </a:r>
            <a:r>
              <a:rPr sz="1400" b="1" i="0" dirty="0">
                <a:solidFill>
                  <a:srgbClr val="1D2D3D"/>
                </a:solidFill>
              </a:rPr>
              <a:t> </a:t>
            </a:r>
            <a:r>
              <a:rPr sz="1400" b="1" i="0" dirty="0" err="1">
                <a:solidFill>
                  <a:srgbClr val="1D2D3D"/>
                </a:solidFill>
              </a:rPr>
              <a:t>재현</a:t>
            </a:r>
            <a:endParaRPr sz="1400" b="1" i="0" dirty="0">
              <a:solidFill>
                <a:srgbClr val="1D2D3D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FDC996-8247-EB47-CB4C-B6C0BC05EDC9}"/>
              </a:ext>
            </a:extLst>
          </p:cNvPr>
          <p:cNvSpPr txBox="1"/>
          <p:nvPr/>
        </p:nvSpPr>
        <p:spPr>
          <a:xfrm>
            <a:off x="6349558" y="5214484"/>
            <a:ext cx="5150815" cy="389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 err="1">
                <a:solidFill>
                  <a:srgbClr val="5B6472"/>
                </a:solidFill>
              </a:rPr>
              <a:t>도착률</a:t>
            </a:r>
            <a:r>
              <a:rPr sz="1100" b="0" i="0" dirty="0">
                <a:solidFill>
                  <a:srgbClr val="5B6472"/>
                </a:solidFill>
              </a:rPr>
              <a:t> 300→600 req/s </a:t>
            </a:r>
            <a:r>
              <a:rPr sz="1100" b="0" i="0" dirty="0" err="1">
                <a:solidFill>
                  <a:srgbClr val="5B6472"/>
                </a:solidFill>
              </a:rPr>
              <a:t>구간에서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로컬·AWS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동일하게</a:t>
            </a:r>
            <a:r>
              <a:rPr sz="1100" b="0" i="0" dirty="0">
                <a:solidFill>
                  <a:srgbClr val="5B6472"/>
                </a:solidFill>
              </a:rPr>
              <a:t> 약 25초간 </a:t>
            </a:r>
            <a:r>
              <a:rPr sz="1100" b="0" i="0" dirty="0" err="1">
                <a:solidFill>
                  <a:srgbClr val="5B6472"/>
                </a:solidFill>
              </a:rPr>
              <a:t>풀이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상시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소진되고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pending이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최대</a:t>
            </a:r>
            <a:r>
              <a:rPr sz="1100" b="0" i="0" dirty="0">
                <a:solidFill>
                  <a:srgbClr val="5B6472"/>
                </a:solidFill>
              </a:rPr>
              <a:t> 190건까지 </a:t>
            </a:r>
            <a:r>
              <a:rPr sz="1100" b="0" i="0" dirty="0" err="1">
                <a:solidFill>
                  <a:srgbClr val="5B6472"/>
                </a:solidFill>
              </a:rPr>
              <a:t>누적됨을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확인</a:t>
            </a:r>
            <a:r>
              <a:rPr sz="1100" b="0" i="0" dirty="0">
                <a:solidFill>
                  <a:srgbClr val="5B6472"/>
                </a:solidFill>
              </a:rPr>
              <a:t> — </a:t>
            </a:r>
            <a:r>
              <a:rPr sz="1100" b="0" i="0" dirty="0" err="1">
                <a:solidFill>
                  <a:srgbClr val="5B6472"/>
                </a:solidFill>
              </a:rPr>
              <a:t>동일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부하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프로파일에서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재현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가능한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병목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지점</a:t>
            </a:r>
            <a:r>
              <a:rPr sz="1100" b="0" i="0" dirty="0">
                <a:solidFill>
                  <a:srgbClr val="5B6472"/>
                </a:solidFill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845393-176E-86D1-1041-D9B89261A2C7}"/>
              </a:ext>
            </a:extLst>
          </p:cNvPr>
          <p:cNvSpPr txBox="1"/>
          <p:nvPr/>
        </p:nvSpPr>
        <p:spPr>
          <a:xfrm>
            <a:off x="497399" y="5993317"/>
            <a:ext cx="111858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 dirty="0" err="1">
                <a:solidFill>
                  <a:srgbClr val="5B6472"/>
                </a:solidFill>
              </a:rPr>
              <a:t>단위·통합</a:t>
            </a:r>
            <a:r>
              <a:rPr sz="1100" b="0" i="1" dirty="0">
                <a:solidFill>
                  <a:srgbClr val="5B6472"/>
                </a:solidFill>
              </a:rPr>
              <a:t> </a:t>
            </a:r>
            <a:r>
              <a:rPr sz="1100" b="0" i="1" dirty="0" err="1">
                <a:solidFill>
                  <a:srgbClr val="5B6472"/>
                </a:solidFill>
              </a:rPr>
              <a:t>테스트</a:t>
            </a:r>
            <a:r>
              <a:rPr sz="1100" b="0" i="1" dirty="0">
                <a:solidFill>
                  <a:srgbClr val="5B6472"/>
                </a:solidFill>
              </a:rPr>
              <a:t> </a:t>
            </a:r>
            <a:r>
              <a:rPr sz="1100" b="0" i="1" dirty="0" err="1">
                <a:solidFill>
                  <a:srgbClr val="5B6472"/>
                </a:solidFill>
              </a:rPr>
              <a:t>계층</a:t>
            </a:r>
            <a:r>
              <a:rPr sz="1100" b="0" i="1" dirty="0">
                <a:solidFill>
                  <a:srgbClr val="5B6472"/>
                </a:solidFill>
              </a:rPr>
              <a:t>(B1·B2 </a:t>
            </a:r>
            <a:r>
              <a:rPr sz="1100" b="0" i="1" dirty="0" err="1">
                <a:solidFill>
                  <a:srgbClr val="5B6472"/>
                </a:solidFill>
              </a:rPr>
              <a:t>대량</a:t>
            </a:r>
            <a:r>
              <a:rPr sz="1100" b="0" i="1" dirty="0">
                <a:solidFill>
                  <a:srgbClr val="5B6472"/>
                </a:solidFill>
              </a:rPr>
              <a:t> </a:t>
            </a:r>
            <a:r>
              <a:rPr sz="1100" b="0" i="1" dirty="0" err="1">
                <a:solidFill>
                  <a:srgbClr val="5B6472"/>
                </a:solidFill>
              </a:rPr>
              <a:t>반복</a:t>
            </a:r>
            <a:r>
              <a:rPr sz="1100" b="0" i="1" dirty="0">
                <a:solidFill>
                  <a:srgbClr val="5B6472"/>
                </a:solidFill>
              </a:rPr>
              <a:t> 100스레드×10회, B4 Redis-DB </a:t>
            </a:r>
            <a:r>
              <a:rPr sz="1100" b="0" i="1" dirty="0" err="1">
                <a:solidFill>
                  <a:srgbClr val="5B6472"/>
                </a:solidFill>
              </a:rPr>
              <a:t>정합성</a:t>
            </a:r>
            <a:r>
              <a:rPr sz="1100" b="0" i="1" dirty="0">
                <a:solidFill>
                  <a:srgbClr val="5B6472"/>
                </a:solidFill>
              </a:rPr>
              <a:t> </a:t>
            </a:r>
            <a:r>
              <a:rPr sz="1100" b="0" i="1" dirty="0" err="1">
                <a:solidFill>
                  <a:srgbClr val="5B6472"/>
                </a:solidFill>
              </a:rPr>
              <a:t>회귀</a:t>
            </a:r>
            <a:r>
              <a:rPr sz="1100" b="0" i="1" dirty="0">
                <a:solidFill>
                  <a:srgbClr val="5B6472"/>
                </a:solidFill>
              </a:rPr>
              <a:t>)의 over-booking 0건 </a:t>
            </a:r>
            <a:r>
              <a:rPr sz="1100" b="0" i="1" dirty="0" err="1">
                <a:solidFill>
                  <a:srgbClr val="5B6472"/>
                </a:solidFill>
              </a:rPr>
              <a:t>검증은</a:t>
            </a:r>
            <a:r>
              <a:rPr sz="1100" b="0" i="1" dirty="0">
                <a:solidFill>
                  <a:srgbClr val="5B6472"/>
                </a:solidFill>
              </a:rPr>
              <a:t> </a:t>
            </a:r>
            <a:r>
              <a:rPr sz="1100" b="0" i="1" dirty="0" err="1">
                <a:solidFill>
                  <a:srgbClr val="5B6472"/>
                </a:solidFill>
              </a:rPr>
              <a:t>앞선</a:t>
            </a:r>
            <a:r>
              <a:rPr sz="1100" b="0" i="1" dirty="0">
                <a:solidFill>
                  <a:srgbClr val="5B6472"/>
                </a:solidFill>
              </a:rPr>
              <a:t> “</a:t>
            </a:r>
            <a:r>
              <a:rPr sz="1100" b="0" i="1" dirty="0" err="1">
                <a:solidFill>
                  <a:srgbClr val="5B6472"/>
                </a:solidFill>
              </a:rPr>
              <a:t>좌석</a:t>
            </a:r>
            <a:r>
              <a:rPr sz="1100" b="0" i="1" dirty="0">
                <a:solidFill>
                  <a:srgbClr val="5B6472"/>
                </a:solidFill>
              </a:rPr>
              <a:t> </a:t>
            </a:r>
            <a:r>
              <a:rPr sz="1100" b="0" i="1" dirty="0" err="1">
                <a:solidFill>
                  <a:srgbClr val="5B6472"/>
                </a:solidFill>
              </a:rPr>
              <a:t>선점</a:t>
            </a:r>
            <a:r>
              <a:rPr sz="1100" b="0" i="1" dirty="0">
                <a:solidFill>
                  <a:srgbClr val="5B6472"/>
                </a:solidFill>
              </a:rPr>
              <a:t> </a:t>
            </a:r>
            <a:r>
              <a:rPr sz="1100" b="0" i="1" dirty="0" err="1">
                <a:solidFill>
                  <a:srgbClr val="5B6472"/>
                </a:solidFill>
              </a:rPr>
              <a:t>분산락</a:t>
            </a:r>
            <a:r>
              <a:rPr sz="1100" b="0" i="1" dirty="0">
                <a:solidFill>
                  <a:srgbClr val="5B6472"/>
                </a:solidFill>
              </a:rPr>
              <a:t> — </a:t>
            </a:r>
            <a:r>
              <a:rPr sz="1100" b="0" i="1" dirty="0" err="1">
                <a:solidFill>
                  <a:srgbClr val="5B6472"/>
                </a:solidFill>
              </a:rPr>
              <a:t>동시성</a:t>
            </a:r>
            <a:r>
              <a:rPr sz="1100" b="0" i="1" dirty="0">
                <a:solidFill>
                  <a:srgbClr val="5B6472"/>
                </a:solidFill>
              </a:rPr>
              <a:t> </a:t>
            </a:r>
            <a:r>
              <a:rPr sz="1100" b="0" i="1" dirty="0" err="1">
                <a:solidFill>
                  <a:srgbClr val="5B6472"/>
                </a:solidFill>
              </a:rPr>
              <a:t>테스트</a:t>
            </a:r>
            <a:r>
              <a:rPr sz="1100" b="0" i="1" dirty="0">
                <a:solidFill>
                  <a:srgbClr val="5B6472"/>
                </a:solidFill>
              </a:rPr>
              <a:t> </a:t>
            </a:r>
            <a:r>
              <a:rPr sz="1100" b="0" i="1" dirty="0" err="1">
                <a:solidFill>
                  <a:srgbClr val="5B6472"/>
                </a:solidFill>
              </a:rPr>
              <a:t>결과</a:t>
            </a:r>
            <a:r>
              <a:rPr sz="1100" b="0" i="1" dirty="0">
                <a:solidFill>
                  <a:srgbClr val="5B6472"/>
                </a:solidFill>
              </a:rPr>
              <a:t>” </a:t>
            </a:r>
            <a:r>
              <a:rPr sz="1100" b="0" i="1" dirty="0" err="1">
                <a:solidFill>
                  <a:srgbClr val="5B6472"/>
                </a:solidFill>
              </a:rPr>
              <a:t>슬라이드에서</a:t>
            </a:r>
            <a:r>
              <a:rPr sz="1100" b="0" i="1" dirty="0">
                <a:solidFill>
                  <a:srgbClr val="5B6472"/>
                </a:solidFill>
              </a:rPr>
              <a:t> </a:t>
            </a:r>
            <a:r>
              <a:rPr sz="1100" b="0" i="1" dirty="0" err="1">
                <a:solidFill>
                  <a:srgbClr val="5B6472"/>
                </a:solidFill>
              </a:rPr>
              <a:t>함께</a:t>
            </a:r>
            <a:r>
              <a:rPr sz="1100" b="0" i="1" dirty="0">
                <a:solidFill>
                  <a:srgbClr val="5B6472"/>
                </a:solidFill>
              </a:rPr>
              <a:t> </a:t>
            </a:r>
            <a:r>
              <a:rPr sz="1100" b="0" i="1" dirty="0" err="1">
                <a:solidFill>
                  <a:srgbClr val="5B6472"/>
                </a:solidFill>
              </a:rPr>
              <a:t>확인했습니다</a:t>
            </a:r>
            <a:r>
              <a:rPr sz="1100" b="0" i="1" dirty="0">
                <a:solidFill>
                  <a:srgbClr val="5B647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2007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C6362A"/>
                </a:solidFill>
              </a:rPr>
              <a:t>05  </a:t>
            </a:r>
            <a:r>
              <a:rPr sz="1200" b="1" i="0">
                <a:solidFill>
                  <a:srgbClr val="1D2D3D"/>
                </a:solidFill>
              </a:rPr>
              <a:t>수행 결과 — 테스트·검증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71055" y="349701"/>
            <a:ext cx="46177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dirty="0" err="1">
                <a:solidFill>
                  <a:srgbClr val="5B6472"/>
                </a:solidFill>
              </a:rPr>
              <a:t>시나리오</a:t>
            </a:r>
            <a:r>
              <a:rPr sz="1100" b="0" i="0" dirty="0">
                <a:solidFill>
                  <a:srgbClr val="5B6472"/>
                </a:solidFill>
              </a:rPr>
              <a:t> D </a:t>
            </a:r>
            <a:r>
              <a:rPr sz="1100" b="0" i="0" dirty="0" err="1">
                <a:solidFill>
                  <a:srgbClr val="5B6472"/>
                </a:solidFill>
              </a:rPr>
              <a:t>상세</a:t>
            </a:r>
            <a:r>
              <a:rPr sz="1100" b="0" i="0" dirty="0">
                <a:solidFill>
                  <a:srgbClr val="5B6472"/>
                </a:solidFill>
              </a:rPr>
              <a:t> · </a:t>
            </a:r>
            <a:r>
              <a:rPr sz="1100" b="0" i="0" dirty="0" err="1">
                <a:solidFill>
                  <a:srgbClr val="5B6472"/>
                </a:solidFill>
              </a:rPr>
              <a:t>HikariCP</a:t>
            </a:r>
            <a:r>
              <a:rPr sz="1100" b="0" i="0" dirty="0">
                <a:solidFill>
                  <a:srgbClr val="5B6472"/>
                </a:solidFill>
              </a:rPr>
              <a:t> </a:t>
            </a:r>
            <a:r>
              <a:rPr sz="1100" b="0" i="0" dirty="0" err="1">
                <a:solidFill>
                  <a:srgbClr val="5B6472"/>
                </a:solidFill>
              </a:rPr>
              <a:t>병목</a:t>
            </a:r>
            <a:endParaRPr sz="1100" b="0" i="0" dirty="0">
              <a:solidFill>
                <a:srgbClr val="5B647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554853"/>
            <a:ext cx="73152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472"/>
                </a:solidFill>
              </a:rPr>
              <a:t>Re:Seat · 3차(최종) 프로젝트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21501"/>
            <a:ext cx="1118585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200" b="1" i="0" dirty="0">
                <a:solidFill>
                  <a:srgbClr val="1D2D3D"/>
                </a:solidFill>
              </a:rPr>
              <a:t>[Reservation] </a:t>
            </a:r>
            <a:r>
              <a:rPr sz="2200" b="1" i="0" dirty="0" err="1">
                <a:solidFill>
                  <a:srgbClr val="1D2D3D"/>
                </a:solidFill>
              </a:rPr>
              <a:t>좌석</a:t>
            </a:r>
            <a:r>
              <a:rPr sz="2200" b="1" i="0" dirty="0">
                <a:solidFill>
                  <a:srgbClr val="1D2D3D"/>
                </a:solidFill>
              </a:rPr>
              <a:t> </a:t>
            </a:r>
            <a:r>
              <a:rPr sz="2200" b="1" i="0" dirty="0" err="1">
                <a:solidFill>
                  <a:srgbClr val="1D2D3D"/>
                </a:solidFill>
              </a:rPr>
              <a:t>선점</a:t>
            </a:r>
            <a:r>
              <a:rPr sz="2200" b="1" i="0" dirty="0">
                <a:solidFill>
                  <a:srgbClr val="1D2D3D"/>
                </a:solidFill>
              </a:rPr>
              <a:t> </a:t>
            </a:r>
            <a:r>
              <a:rPr sz="2200" b="1" i="0" dirty="0" err="1">
                <a:solidFill>
                  <a:srgbClr val="1D2D3D"/>
                </a:solidFill>
              </a:rPr>
              <a:t>부하</a:t>
            </a:r>
            <a:r>
              <a:rPr sz="2200" b="1" i="0" dirty="0">
                <a:solidFill>
                  <a:srgbClr val="1D2D3D"/>
                </a:solidFill>
              </a:rPr>
              <a:t> </a:t>
            </a:r>
            <a:r>
              <a:rPr sz="2200" b="1" i="0" dirty="0" err="1">
                <a:solidFill>
                  <a:srgbClr val="1D2D3D"/>
                </a:solidFill>
              </a:rPr>
              <a:t>스파이크</a:t>
            </a:r>
            <a:r>
              <a:rPr sz="2200" b="1" i="0" dirty="0">
                <a:solidFill>
                  <a:srgbClr val="1D2D3D"/>
                </a:solidFill>
              </a:rPr>
              <a:t> — </a:t>
            </a:r>
            <a:r>
              <a:rPr sz="2200" b="1" i="0" dirty="0" err="1">
                <a:solidFill>
                  <a:srgbClr val="1D2D3D"/>
                </a:solidFill>
              </a:rPr>
              <a:t>시나리오</a:t>
            </a:r>
            <a:r>
              <a:rPr sz="2200" b="1" i="0" dirty="0">
                <a:solidFill>
                  <a:srgbClr val="1D2D3D"/>
                </a:solidFill>
              </a:rPr>
              <a:t> D </a:t>
            </a:r>
            <a:r>
              <a:rPr sz="2200" b="1" i="0" dirty="0" err="1">
                <a:solidFill>
                  <a:srgbClr val="1D2D3D"/>
                </a:solidFill>
              </a:rPr>
              <a:t>상세</a:t>
            </a:r>
            <a:r>
              <a:rPr sz="2200" b="1" i="0" dirty="0">
                <a:solidFill>
                  <a:srgbClr val="1D2D3D"/>
                </a:solidFill>
              </a:rPr>
              <a:t> </a:t>
            </a:r>
            <a:r>
              <a:rPr sz="2200" b="1" i="0" dirty="0" err="1">
                <a:solidFill>
                  <a:srgbClr val="1D2D3D"/>
                </a:solidFill>
              </a:rPr>
              <a:t>분석</a:t>
            </a:r>
            <a:r>
              <a:rPr lang="en-US" sz="2200" b="1" i="0" dirty="0">
                <a:solidFill>
                  <a:srgbClr val="1D2D3D"/>
                </a:solidFill>
              </a:rPr>
              <a:t> (k6)</a:t>
            </a:r>
            <a:endParaRPr sz="2200" b="1" i="0" dirty="0">
              <a:solidFill>
                <a:srgbClr val="1D2D3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7399" y="1392964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 dirty="0" err="1">
                <a:solidFill>
                  <a:srgbClr val="5B6472"/>
                </a:solidFill>
              </a:rPr>
              <a:t>예매</a:t>
            </a:r>
            <a:r>
              <a:rPr sz="1200" b="0" i="1" dirty="0">
                <a:solidFill>
                  <a:srgbClr val="5B6472"/>
                </a:solidFill>
              </a:rPr>
              <a:t> </a:t>
            </a:r>
            <a:r>
              <a:rPr sz="1200" b="0" i="1" dirty="0" err="1">
                <a:solidFill>
                  <a:srgbClr val="5B6472"/>
                </a:solidFill>
              </a:rPr>
              <a:t>오픈</a:t>
            </a:r>
            <a:r>
              <a:rPr sz="1200" b="0" i="1" dirty="0">
                <a:solidFill>
                  <a:srgbClr val="5B6472"/>
                </a:solidFill>
              </a:rPr>
              <a:t> </a:t>
            </a:r>
            <a:r>
              <a:rPr sz="1200" b="0" i="1" dirty="0" err="1">
                <a:solidFill>
                  <a:srgbClr val="5B6472"/>
                </a:solidFill>
              </a:rPr>
              <a:t>순간</a:t>
            </a:r>
            <a:r>
              <a:rPr sz="1200" b="0" i="1" dirty="0">
                <a:solidFill>
                  <a:srgbClr val="5B6472"/>
                </a:solidFill>
              </a:rPr>
              <a:t> </a:t>
            </a:r>
            <a:r>
              <a:rPr sz="1200" b="0" i="1" dirty="0" err="1">
                <a:solidFill>
                  <a:srgbClr val="5B6472"/>
                </a:solidFill>
              </a:rPr>
              <a:t>급격한</a:t>
            </a:r>
            <a:r>
              <a:rPr sz="1200" b="0" i="1" dirty="0">
                <a:solidFill>
                  <a:srgbClr val="5B6472"/>
                </a:solidFill>
              </a:rPr>
              <a:t> </a:t>
            </a:r>
            <a:r>
              <a:rPr sz="1200" b="0" i="1" dirty="0" err="1">
                <a:solidFill>
                  <a:srgbClr val="5B6472"/>
                </a:solidFill>
              </a:rPr>
              <a:t>유입에서</a:t>
            </a:r>
            <a:r>
              <a:rPr sz="1200" b="0" i="1" dirty="0">
                <a:solidFill>
                  <a:srgbClr val="5B6472"/>
                </a:solidFill>
              </a:rPr>
              <a:t> </a:t>
            </a:r>
            <a:r>
              <a:rPr sz="1200" b="0" i="1" dirty="0" err="1">
                <a:solidFill>
                  <a:srgbClr val="5B6472"/>
                </a:solidFill>
              </a:rPr>
              <a:t>지연이</a:t>
            </a:r>
            <a:r>
              <a:rPr sz="1200" b="0" i="1" dirty="0">
                <a:solidFill>
                  <a:srgbClr val="5B6472"/>
                </a:solidFill>
              </a:rPr>
              <a:t> </a:t>
            </a:r>
            <a:r>
              <a:rPr sz="1200" b="0" i="1" dirty="0" err="1">
                <a:solidFill>
                  <a:srgbClr val="5B6472"/>
                </a:solidFill>
              </a:rPr>
              <a:t>어떻게</a:t>
            </a:r>
            <a:r>
              <a:rPr sz="1200" b="0" i="1" dirty="0">
                <a:solidFill>
                  <a:srgbClr val="5B6472"/>
                </a:solidFill>
              </a:rPr>
              <a:t> </a:t>
            </a:r>
            <a:r>
              <a:rPr sz="1200" b="0" i="1" dirty="0" err="1">
                <a:solidFill>
                  <a:srgbClr val="5B6472"/>
                </a:solidFill>
              </a:rPr>
              <a:t>열화되는지와</a:t>
            </a:r>
            <a:r>
              <a:rPr sz="1200" b="0" i="1" dirty="0">
                <a:solidFill>
                  <a:srgbClr val="5B6472"/>
                </a:solidFill>
              </a:rPr>
              <a:t> “</a:t>
            </a:r>
            <a:r>
              <a:rPr sz="1200" b="0" i="1" dirty="0" err="1">
                <a:solidFill>
                  <a:srgbClr val="5B6472"/>
                </a:solidFill>
              </a:rPr>
              <a:t>실패”로</a:t>
            </a:r>
            <a:r>
              <a:rPr sz="1200" b="0" i="1" dirty="0">
                <a:solidFill>
                  <a:srgbClr val="5B6472"/>
                </a:solidFill>
              </a:rPr>
              <a:t> </a:t>
            </a:r>
            <a:r>
              <a:rPr sz="1200" b="0" i="1" dirty="0" err="1">
                <a:solidFill>
                  <a:srgbClr val="5B6472"/>
                </a:solidFill>
              </a:rPr>
              <a:t>보이는</a:t>
            </a:r>
            <a:r>
              <a:rPr sz="1200" b="0" i="1" dirty="0">
                <a:solidFill>
                  <a:srgbClr val="5B6472"/>
                </a:solidFill>
              </a:rPr>
              <a:t> </a:t>
            </a:r>
            <a:r>
              <a:rPr sz="1200" b="0" i="1" dirty="0" err="1">
                <a:solidFill>
                  <a:srgbClr val="5B6472"/>
                </a:solidFill>
              </a:rPr>
              <a:t>수치의</a:t>
            </a:r>
            <a:r>
              <a:rPr sz="1200" b="0" i="1" dirty="0">
                <a:solidFill>
                  <a:srgbClr val="5B6472"/>
                </a:solidFill>
              </a:rPr>
              <a:t> </a:t>
            </a:r>
            <a:r>
              <a:rPr sz="1200" b="0" i="1" dirty="0" err="1">
                <a:solidFill>
                  <a:srgbClr val="5B6472"/>
                </a:solidFill>
              </a:rPr>
              <a:t>실제</a:t>
            </a:r>
            <a:r>
              <a:rPr sz="1200" b="0" i="1" dirty="0">
                <a:solidFill>
                  <a:srgbClr val="5B6472"/>
                </a:solidFill>
              </a:rPr>
              <a:t> </a:t>
            </a:r>
            <a:r>
              <a:rPr sz="1200" b="0" i="1" dirty="0" err="1">
                <a:solidFill>
                  <a:srgbClr val="5B6472"/>
                </a:solidFill>
              </a:rPr>
              <a:t>구성을</a:t>
            </a:r>
            <a:r>
              <a:rPr sz="1200" b="0" i="1" dirty="0">
                <a:solidFill>
                  <a:srgbClr val="5B6472"/>
                </a:solidFill>
              </a:rPr>
              <a:t> </a:t>
            </a:r>
            <a:r>
              <a:rPr sz="1200" b="0" i="1" dirty="0" err="1">
                <a:solidFill>
                  <a:srgbClr val="5B6472"/>
                </a:solidFill>
              </a:rPr>
              <a:t>분해했습니다</a:t>
            </a:r>
            <a:r>
              <a:rPr sz="1200" b="0" i="1" dirty="0">
                <a:solidFill>
                  <a:srgbClr val="5B6472"/>
                </a:solidFill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7398" y="1724210"/>
            <a:ext cx="11185855" cy="460000"/>
          </a:xfrm>
          <a:prstGeom prst="rect">
            <a:avLst/>
          </a:prstGeom>
          <a:solidFill>
            <a:srgbClr val="F2F2F3"/>
          </a:solidFill>
          <a:ln w="12700">
            <a:solidFill>
              <a:srgbClr val="C7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5998" y="1869571"/>
            <a:ext cx="1072865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1D2D3D"/>
                </a:solidFill>
              </a:rPr>
              <a:t>●  </a:t>
            </a:r>
            <a:r>
              <a:rPr sz="1100" b="1" i="0" dirty="0" err="1">
                <a:solidFill>
                  <a:srgbClr val="5B6472"/>
                </a:solidFill>
              </a:rPr>
              <a:t>측정</a:t>
            </a:r>
            <a:r>
              <a:rPr sz="1100" b="1" i="0" dirty="0">
                <a:solidFill>
                  <a:srgbClr val="5B6472"/>
                </a:solidFill>
              </a:rPr>
              <a:t> </a:t>
            </a:r>
            <a:r>
              <a:rPr sz="1100" b="1" i="0" dirty="0" err="1">
                <a:solidFill>
                  <a:srgbClr val="5B6472"/>
                </a:solidFill>
              </a:rPr>
              <a:t>완료</a:t>
            </a:r>
            <a:r>
              <a:rPr sz="1100" b="1" i="0" dirty="0">
                <a:solidFill>
                  <a:srgbClr val="5B6472"/>
                </a:solidFill>
              </a:rPr>
              <a:t> — </a:t>
            </a:r>
            <a:r>
              <a:rPr sz="1100" b="1" i="0" dirty="0" err="1">
                <a:solidFill>
                  <a:srgbClr val="5B6472"/>
                </a:solidFill>
              </a:rPr>
              <a:t>로컬</a:t>
            </a:r>
            <a:r>
              <a:rPr sz="1100" b="1" i="0" dirty="0">
                <a:solidFill>
                  <a:srgbClr val="5B6472"/>
                </a:solidFill>
              </a:rPr>
              <a:t> 1회 · AWS 1회 (</a:t>
            </a:r>
            <a:r>
              <a:rPr sz="1100" b="1" i="0" dirty="0" err="1">
                <a:solidFill>
                  <a:srgbClr val="5B6472"/>
                </a:solidFill>
              </a:rPr>
              <a:t>반복</a:t>
            </a:r>
            <a:r>
              <a:rPr sz="1100" b="1" i="0" dirty="0">
                <a:solidFill>
                  <a:srgbClr val="5B6472"/>
                </a:solidFill>
              </a:rPr>
              <a:t> </a:t>
            </a:r>
            <a:r>
              <a:rPr sz="1100" b="1" i="0" dirty="0" err="1">
                <a:solidFill>
                  <a:srgbClr val="5B6472"/>
                </a:solidFill>
              </a:rPr>
              <a:t>측정</a:t>
            </a:r>
            <a:r>
              <a:rPr sz="1100" b="1" i="0" dirty="0">
                <a:solidFill>
                  <a:srgbClr val="5B6472"/>
                </a:solidFill>
              </a:rPr>
              <a:t> </a:t>
            </a:r>
            <a:r>
              <a:rPr sz="1100" b="1" i="0" dirty="0" err="1">
                <a:solidFill>
                  <a:srgbClr val="5B6472"/>
                </a:solidFill>
              </a:rPr>
              <a:t>아님</a:t>
            </a:r>
            <a:r>
              <a:rPr sz="1100" b="1" i="0" dirty="0">
                <a:solidFill>
                  <a:srgbClr val="5B6472"/>
                </a:solidFill>
              </a:rPr>
              <a:t>, </a:t>
            </a:r>
            <a:r>
              <a:rPr sz="1100" b="1" i="0" dirty="0" err="1">
                <a:solidFill>
                  <a:srgbClr val="5B6472"/>
                </a:solidFill>
              </a:rPr>
              <a:t>목적은</a:t>
            </a:r>
            <a:r>
              <a:rPr sz="1100" b="1" i="0" dirty="0">
                <a:solidFill>
                  <a:srgbClr val="5B6472"/>
                </a:solidFill>
              </a:rPr>
              <a:t> over-booking </a:t>
            </a:r>
            <a:r>
              <a:rPr sz="1100" b="1" i="0" dirty="0" err="1">
                <a:solidFill>
                  <a:srgbClr val="5B6472"/>
                </a:solidFill>
              </a:rPr>
              <a:t>검증이</a:t>
            </a:r>
            <a:r>
              <a:rPr sz="1100" b="1" i="0" dirty="0">
                <a:solidFill>
                  <a:srgbClr val="5B6472"/>
                </a:solidFill>
              </a:rPr>
              <a:t> </a:t>
            </a:r>
            <a:r>
              <a:rPr sz="1100" b="1" i="0" dirty="0" err="1">
                <a:solidFill>
                  <a:srgbClr val="5B6472"/>
                </a:solidFill>
              </a:rPr>
              <a:t>아니라</a:t>
            </a:r>
            <a:r>
              <a:rPr sz="1100" b="1" i="0" dirty="0">
                <a:solidFill>
                  <a:srgbClr val="5B6472"/>
                </a:solidFill>
              </a:rPr>
              <a:t> </a:t>
            </a:r>
            <a:r>
              <a:rPr sz="1100" b="1" i="0" dirty="0" err="1">
                <a:solidFill>
                  <a:srgbClr val="5B6472"/>
                </a:solidFill>
              </a:rPr>
              <a:t>순수</a:t>
            </a:r>
            <a:r>
              <a:rPr sz="1100" b="1" i="0" dirty="0">
                <a:solidFill>
                  <a:srgbClr val="5B6472"/>
                </a:solidFill>
              </a:rPr>
              <a:t> </a:t>
            </a:r>
            <a:r>
              <a:rPr sz="1100" b="1" i="0" dirty="0" err="1">
                <a:solidFill>
                  <a:srgbClr val="5B6472"/>
                </a:solidFill>
              </a:rPr>
              <a:t>부하</a:t>
            </a:r>
            <a:r>
              <a:rPr sz="1100" b="1" i="0" dirty="0">
                <a:solidFill>
                  <a:srgbClr val="5B6472"/>
                </a:solidFill>
              </a:rPr>
              <a:t> </a:t>
            </a:r>
            <a:r>
              <a:rPr sz="1100" b="1" i="0" dirty="0" err="1">
                <a:solidFill>
                  <a:srgbClr val="5B6472"/>
                </a:solidFill>
              </a:rPr>
              <a:t>관찰</a:t>
            </a:r>
            <a:r>
              <a:rPr sz="1100" b="1" i="0" dirty="0">
                <a:solidFill>
                  <a:srgbClr val="5B6472"/>
                </a:solidFill>
              </a:rPr>
              <a:t>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611050"/>
              </p:ext>
            </p:extLst>
          </p:nvPr>
        </p:nvGraphicFramePr>
        <p:xfrm>
          <a:off x="497397" y="2301746"/>
          <a:ext cx="111858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5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4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9C2A21"/>
                          </a:solidFill>
                          <a:latin typeface="+mn-lt"/>
                        </a:rPr>
                        <a:t>지표</a:t>
                      </a:r>
                      <a:endParaRPr sz="1100" b="1" dirty="0">
                        <a:solidFill>
                          <a:srgbClr val="9C2A21"/>
                        </a:solidFill>
                        <a:latin typeface="+mn-lt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</a:rPr>
                        <a:t>로컬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</a:rPr>
                        <a:t>AWS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</a:rPr>
                        <a:t>차이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</a:rPr>
                        <a:t>http_reqs</a:t>
                      </a:r>
                      <a:endParaRPr sz="1100" b="0" dirty="0">
                        <a:solidFill>
                          <a:srgbClr val="1D2D3D"/>
                        </a:solidFill>
                        <a:latin typeface="+mn-lt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10,054건 (251.34/s)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6,480건 (151.03/s)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로컬이 더 많은 요청 처리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http_req_duration avg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1.78초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9C2A21"/>
                          </a:solidFill>
                          <a:latin typeface="+mn-lt"/>
                        </a:rPr>
                        <a:t>3.78초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AWS가 2배 이상 느림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hold_success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500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496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유사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hold_seat_already_held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2,950 (29%)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2,108 (33%)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좌석 경합 차단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hold_max_seat_count_exceeded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6,604 (66%)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3,876 (60%)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fixture 상한 정책 거절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dropped_iterations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2,945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9C2A21"/>
                          </a:solidFill>
                          <a:latin typeface="+mn-lt"/>
                        </a:rPr>
                        <a:t>6,519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</a:rPr>
                        <a:t>AWS에서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 더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</a:rPr>
                        <a:t>많이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</a:rPr>
                        <a:t>드롭</a:t>
                      </a:r>
                      <a:endParaRPr sz="1100" b="0" dirty="0">
                        <a:solidFill>
                          <a:srgbClr val="1D2D3D"/>
                        </a:solidFill>
                        <a:latin typeface="+mn-lt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02920" y="5040240"/>
            <a:ext cx="11185855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5998" y="5183193"/>
            <a:ext cx="515081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D2D3D"/>
                </a:solidFill>
              </a:rPr>
              <a:t>측정</a:t>
            </a:r>
            <a:r>
              <a:rPr sz="1400" b="1" i="0" dirty="0">
                <a:solidFill>
                  <a:srgbClr val="1D2D3D"/>
                </a:solidFill>
              </a:rPr>
              <a:t> </a:t>
            </a:r>
            <a:r>
              <a:rPr sz="1400" b="1" i="0" dirty="0" err="1">
                <a:solidFill>
                  <a:srgbClr val="1D2D3D"/>
                </a:solidFill>
              </a:rPr>
              <a:t>한계</a:t>
            </a:r>
            <a:r>
              <a:rPr sz="1400" b="1" i="0" dirty="0">
                <a:solidFill>
                  <a:srgbClr val="1D2D3D"/>
                </a:solidFill>
              </a:rPr>
              <a:t> — </a:t>
            </a:r>
            <a:r>
              <a:rPr sz="1400" b="1" i="0" dirty="0" err="1">
                <a:solidFill>
                  <a:srgbClr val="1D2D3D"/>
                </a:solidFill>
              </a:rPr>
              <a:t>반복·규모</a:t>
            </a:r>
            <a:r>
              <a:rPr sz="1400" b="1" i="0" dirty="0">
                <a:solidFill>
                  <a:srgbClr val="1D2D3D"/>
                </a:solidFill>
              </a:rPr>
              <a:t> </a:t>
            </a:r>
            <a:r>
              <a:rPr sz="1400" b="1" i="0" dirty="0" err="1">
                <a:solidFill>
                  <a:srgbClr val="1D2D3D"/>
                </a:solidFill>
              </a:rPr>
              <a:t>확장은</a:t>
            </a:r>
            <a:r>
              <a:rPr sz="1400" b="1" i="0" dirty="0">
                <a:solidFill>
                  <a:srgbClr val="1D2D3D"/>
                </a:solidFill>
              </a:rPr>
              <a:t> </a:t>
            </a:r>
            <a:r>
              <a:rPr sz="1400" b="1" i="0" dirty="0" err="1">
                <a:solidFill>
                  <a:srgbClr val="1D2D3D"/>
                </a:solidFill>
              </a:rPr>
              <a:t>범위</a:t>
            </a:r>
            <a:r>
              <a:rPr sz="1400" b="1" i="0" dirty="0">
                <a:solidFill>
                  <a:srgbClr val="1D2D3D"/>
                </a:solidFill>
              </a:rPr>
              <a:t> 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998" y="5540240"/>
            <a:ext cx="10779897" cy="42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dirty="0" err="1">
                <a:solidFill>
                  <a:srgbClr val="5B6472"/>
                </a:solidFill>
              </a:rPr>
              <a:t>이번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측정은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로컬·AWS</a:t>
            </a:r>
            <a:r>
              <a:rPr sz="1200" b="0" i="0" dirty="0">
                <a:solidFill>
                  <a:srgbClr val="5B6472"/>
                </a:solidFill>
              </a:rPr>
              <a:t> 각 1회뿐이라 </a:t>
            </a:r>
            <a:r>
              <a:rPr sz="1200" b="0" i="0" dirty="0" err="1">
                <a:solidFill>
                  <a:srgbClr val="5B6472"/>
                </a:solidFill>
              </a:rPr>
              <a:t>반복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편차는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확인하지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못했습니다</a:t>
            </a:r>
            <a:r>
              <a:rPr sz="1200" b="0" i="0" dirty="0">
                <a:solidFill>
                  <a:srgbClr val="5B6472"/>
                </a:solidFill>
              </a:rPr>
              <a:t>. </a:t>
            </a:r>
            <a:endParaRPr lang="en-US" sz="1200" b="0" i="0" dirty="0">
              <a:solidFill>
                <a:srgbClr val="5B6472"/>
              </a:solidFill>
            </a:endParaRPr>
          </a:p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5B6472"/>
                </a:solidFill>
              </a:rPr>
              <a:t>fixture </a:t>
            </a:r>
            <a:r>
              <a:rPr sz="1200" b="0" i="0" dirty="0" err="1">
                <a:solidFill>
                  <a:srgbClr val="5B6472"/>
                </a:solidFill>
              </a:rPr>
              <a:t>규모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확장은</a:t>
            </a:r>
            <a:r>
              <a:rPr sz="1200" b="0" i="0" dirty="0">
                <a:solidFill>
                  <a:srgbClr val="5B6472"/>
                </a:solidFill>
              </a:rPr>
              <a:t> T3-11에서 </a:t>
            </a:r>
            <a:r>
              <a:rPr sz="1200" b="0" i="0" dirty="0" err="1">
                <a:solidFill>
                  <a:srgbClr val="5B6472"/>
                </a:solidFill>
              </a:rPr>
              <a:t>검토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예정이며</a:t>
            </a:r>
            <a:r>
              <a:rPr sz="1200" b="0" i="0" dirty="0">
                <a:solidFill>
                  <a:srgbClr val="5B6472"/>
                </a:solidFill>
              </a:rPr>
              <a:t>, </a:t>
            </a:r>
            <a:r>
              <a:rPr sz="1200" b="0" i="0" dirty="0" err="1">
                <a:solidFill>
                  <a:srgbClr val="5B6472"/>
                </a:solidFill>
              </a:rPr>
              <a:t>회차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간격이</a:t>
            </a:r>
            <a:r>
              <a:rPr sz="1200" b="0" i="0" dirty="0">
                <a:solidFill>
                  <a:srgbClr val="5B6472"/>
                </a:solidFill>
              </a:rPr>
              <a:t> 10분을 </a:t>
            </a:r>
            <a:r>
              <a:rPr sz="1200" b="0" i="0" dirty="0" err="1">
                <a:solidFill>
                  <a:srgbClr val="5B6472"/>
                </a:solidFill>
              </a:rPr>
              <a:t>넘으면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재선점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상한이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결과를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오염시킬</a:t>
            </a:r>
            <a:r>
              <a:rPr sz="1200" b="0" i="0" dirty="0">
                <a:solidFill>
                  <a:srgbClr val="5B6472"/>
                </a:solidFill>
              </a:rPr>
              <a:t> 수 </a:t>
            </a:r>
            <a:r>
              <a:rPr sz="1200" b="0" i="0" dirty="0" err="1">
                <a:solidFill>
                  <a:srgbClr val="5B6472"/>
                </a:solidFill>
              </a:rPr>
              <a:t>있어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회차를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지체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없이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이어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붙여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측정했습니다</a:t>
            </a:r>
            <a:r>
              <a:rPr sz="1200" b="0" i="0" dirty="0">
                <a:solidFill>
                  <a:srgbClr val="5B6472"/>
                </a:solidFill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396" y="6259944"/>
            <a:ext cx="1118585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 dirty="0" err="1">
                <a:solidFill>
                  <a:srgbClr val="5B6472"/>
                </a:solidFill>
              </a:rPr>
              <a:t>HikariCP</a:t>
            </a:r>
            <a:r>
              <a:rPr sz="1000" b="0" i="1" dirty="0">
                <a:solidFill>
                  <a:srgbClr val="5B6472"/>
                </a:solidFill>
              </a:rPr>
              <a:t>(풀 10)는 </a:t>
            </a:r>
            <a:r>
              <a:rPr sz="1000" b="0" i="1" dirty="0" err="1">
                <a:solidFill>
                  <a:srgbClr val="5B6472"/>
                </a:solidFill>
              </a:rPr>
              <a:t>로컬·AWS</a:t>
            </a:r>
            <a:r>
              <a:rPr sz="1000" b="0" i="1" dirty="0">
                <a:solidFill>
                  <a:srgbClr val="5B6472"/>
                </a:solidFill>
              </a:rPr>
              <a:t> </a:t>
            </a:r>
            <a:r>
              <a:rPr sz="1000" b="0" i="1" dirty="0" err="1">
                <a:solidFill>
                  <a:srgbClr val="5B6472"/>
                </a:solidFill>
              </a:rPr>
              <a:t>모두</a:t>
            </a:r>
            <a:r>
              <a:rPr sz="1000" b="0" i="1" dirty="0">
                <a:solidFill>
                  <a:srgbClr val="5B6472"/>
                </a:solidFill>
              </a:rPr>
              <a:t> 300→600 req/s </a:t>
            </a:r>
            <a:r>
              <a:rPr sz="1000" b="0" i="1" dirty="0" err="1">
                <a:solidFill>
                  <a:srgbClr val="5B6472"/>
                </a:solidFill>
              </a:rPr>
              <a:t>구간에서</a:t>
            </a:r>
            <a:r>
              <a:rPr sz="1000" b="0" i="1" dirty="0">
                <a:solidFill>
                  <a:srgbClr val="5B6472"/>
                </a:solidFill>
              </a:rPr>
              <a:t> 약 25초간 </a:t>
            </a:r>
            <a:r>
              <a:rPr sz="1000" b="0" i="1" dirty="0" err="1">
                <a:solidFill>
                  <a:srgbClr val="5B6472"/>
                </a:solidFill>
              </a:rPr>
              <a:t>소진</a:t>
            </a:r>
            <a:r>
              <a:rPr sz="1000" b="0" i="1" dirty="0">
                <a:solidFill>
                  <a:srgbClr val="5B6472"/>
                </a:solidFill>
              </a:rPr>
              <a:t>, pending </a:t>
            </a:r>
            <a:r>
              <a:rPr sz="1000" b="0" i="1" dirty="0" err="1">
                <a:solidFill>
                  <a:srgbClr val="5B6472"/>
                </a:solidFill>
              </a:rPr>
              <a:t>최대</a:t>
            </a:r>
            <a:r>
              <a:rPr sz="1000" b="0" i="1" dirty="0">
                <a:solidFill>
                  <a:srgbClr val="5B6472"/>
                </a:solidFill>
              </a:rPr>
              <a:t> 190건 — AWS(t2.medium) </a:t>
            </a:r>
            <a:r>
              <a:rPr sz="1000" b="0" i="1" dirty="0" err="1">
                <a:solidFill>
                  <a:srgbClr val="5B6472"/>
                </a:solidFill>
              </a:rPr>
              <a:t>지연</a:t>
            </a:r>
            <a:r>
              <a:rPr sz="1000" b="0" i="1" dirty="0">
                <a:solidFill>
                  <a:srgbClr val="5B6472"/>
                </a:solidFill>
              </a:rPr>
              <a:t> </a:t>
            </a:r>
            <a:r>
              <a:rPr sz="1000" b="0" i="1" dirty="0" err="1">
                <a:solidFill>
                  <a:srgbClr val="5B6472"/>
                </a:solidFill>
              </a:rPr>
              <a:t>열화는</a:t>
            </a:r>
            <a:r>
              <a:rPr sz="1000" b="0" i="1" dirty="0">
                <a:solidFill>
                  <a:srgbClr val="5B6472"/>
                </a:solidFill>
              </a:rPr>
              <a:t> </a:t>
            </a:r>
            <a:r>
              <a:rPr sz="1000" b="0" i="1" dirty="0" err="1">
                <a:solidFill>
                  <a:srgbClr val="5B6472"/>
                </a:solidFill>
              </a:rPr>
              <a:t>인스턴스</a:t>
            </a:r>
            <a:r>
              <a:rPr sz="1000" b="0" i="1" dirty="0">
                <a:solidFill>
                  <a:srgbClr val="5B6472"/>
                </a:solidFill>
              </a:rPr>
              <a:t> </a:t>
            </a:r>
            <a:r>
              <a:rPr sz="1000" b="0" i="1" dirty="0" err="1">
                <a:solidFill>
                  <a:srgbClr val="5B6472"/>
                </a:solidFill>
              </a:rPr>
              <a:t>사양</a:t>
            </a:r>
            <a:r>
              <a:rPr sz="1000" b="0" i="1" dirty="0">
                <a:solidFill>
                  <a:srgbClr val="5B6472"/>
                </a:solidFill>
              </a:rPr>
              <a:t> </a:t>
            </a:r>
            <a:r>
              <a:rPr sz="1000" b="0" i="1" dirty="0" err="1">
                <a:solidFill>
                  <a:srgbClr val="5B6472"/>
                </a:solidFill>
              </a:rPr>
              <a:t>차이로</a:t>
            </a:r>
            <a:r>
              <a:rPr sz="1000" b="0" i="1" dirty="0">
                <a:solidFill>
                  <a:srgbClr val="5B6472"/>
                </a:solidFill>
              </a:rPr>
              <a:t> </a:t>
            </a:r>
            <a:r>
              <a:rPr sz="1000" b="0" i="1" dirty="0" err="1">
                <a:solidFill>
                  <a:srgbClr val="5B6472"/>
                </a:solidFill>
              </a:rPr>
              <a:t>추정</a:t>
            </a:r>
            <a:r>
              <a:rPr sz="1000" b="0" i="1" dirty="0">
                <a:solidFill>
                  <a:srgbClr val="5B6472"/>
                </a:solidFill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55726" y="6492240"/>
            <a:ext cx="133049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</a:rPr>
              <a:t>30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97542297-94EE-4EEF-52E5-5FA6A9A6601D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492240"/>
            <a:ext cx="73152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Re:Seat · 3차(최종) 프로젝트 발표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1575" y="6492240"/>
            <a:ext cx="117019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399" y="942916"/>
            <a:ext cx="1118585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[Reservation]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전이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및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오픈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원자성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테스트</a:t>
            </a:r>
            <a:endParaRPr sz="24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1443859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동일 경기에 관리자 10명이 동시에 예매 오픈을 요청해도 정확히 1건만 성공하는지 검증했습니다 (T3-01).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920240"/>
            <a:ext cx="11185855" cy="460000"/>
          </a:xfrm>
          <a:prstGeom prst="rect">
            <a:avLst/>
          </a:prstGeom>
          <a:solidFill>
            <a:srgbClr val="F2F2F3"/>
          </a:solidFill>
          <a:ln w="12700">
            <a:solidFill>
              <a:srgbClr val="C7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2065601"/>
            <a:ext cx="1072865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●  </a:t>
            </a:r>
            <a:r>
              <a:rPr sz="1100" b="1" i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측정 완료 — GameRepository.compareAndSetBookingStatus 조건부 UPDATE(CAS) 검증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960694"/>
              </p:ext>
            </p:extLst>
          </p:nvPr>
        </p:nvGraphicFramePr>
        <p:xfrm>
          <a:off x="502920" y="2563120"/>
          <a:ext cx="111858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5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항목</a:t>
                      </a:r>
                      <a:endParaRPr sz="1200" b="1" dirty="0">
                        <a:solidFill>
                          <a:srgbClr val="9C2A2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수치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판정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동시 요청 스레드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10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성공(1 반환) 건수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✅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실패(0 반환) 건수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9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✅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예외 발생 건수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✅ </a:t>
                      </a:r>
                      <a:r>
                        <a:rPr sz="12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우연한</a:t>
                      </a:r>
                      <a:r>
                        <a:rPr sz="12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통과</a:t>
                      </a:r>
                      <a:r>
                        <a:rPr sz="12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아님</a:t>
                      </a:r>
                      <a:endParaRPr sz="1200" b="0" dirty="0">
                        <a:solidFill>
                          <a:srgbClr val="1D2D3D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최종 booking_status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OPEN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✅ over-booking </a:t>
                      </a:r>
                      <a:r>
                        <a:rPr sz="12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미발생</a:t>
                      </a:r>
                      <a:endParaRPr sz="1200" b="0" dirty="0">
                        <a:solidFill>
                          <a:srgbClr val="1D2D3D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테스트 소요 시간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1.079초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CI </a:t>
                      </a:r>
                      <a:r>
                        <a:rPr sz="12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부담</a:t>
                      </a:r>
                      <a:r>
                        <a:rPr sz="12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낮음</a:t>
                      </a:r>
                      <a:endParaRPr sz="1200" b="0" dirty="0">
                        <a:solidFill>
                          <a:srgbClr val="1D2D3D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37554" y="5414141"/>
            <a:ext cx="1118585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핵심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발견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도메인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가드로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못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막는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lost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update를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CAS로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차단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7554" y="5779901"/>
            <a:ext cx="11185855" cy="395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두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트랜잭션이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동시에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SCHEDULED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상태를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읽고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둘 다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통과해버리는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lost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update는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도메인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가드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Game.openBooking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())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만으로는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막을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수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없습니다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</a:t>
            </a:r>
            <a:endParaRPr lang="en-US" sz="1100" b="0" i="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l">
              <a:lnSpc>
                <a:spcPct val="122000"/>
              </a:lnSpc>
            </a:pP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WHERE절에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현재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(SCHEDULED)를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함께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검사하는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조건부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UPDATE로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전환해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DB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레벨에서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정확히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1건만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통과시켰고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나머지는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예외가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아닌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0건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반환으로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실패를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구분했습니다</a:t>
            </a:r>
            <a:r>
              <a:rPr sz="11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675984FF-7197-CEF1-9087-4E5F6CD87BA0}"/>
              </a:ext>
            </a:extLst>
          </p:cNvPr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05  </a:t>
            </a:r>
            <a:r>
              <a:rPr sz="1200" b="1">
                <a:solidFill>
                  <a:srgbClr val="1D2D3D"/>
                </a:solidFill>
                <a:latin typeface="Pretendard Variable"/>
              </a:rPr>
              <a:t>수행 결과 — 테스트·검증</a:t>
            </a: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0BB76776-7F64-1434-77D2-1361C04B3F8B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A804EE20-4E65-7EB7-217F-53FB3662508A}"/>
              </a:ext>
            </a:extLst>
          </p:cNvPr>
          <p:cNvSpPr txBox="1"/>
          <p:nvPr/>
        </p:nvSpPr>
        <p:spPr>
          <a:xfrm>
            <a:off x="7071055" y="274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altLang="en-US" sz="1100" b="1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예매 상태 전이 · 원자성</a:t>
            </a:r>
            <a:r>
              <a:rPr lang="en-US" altLang="ko-KR" sz="11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·</a:t>
            </a:r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안정성</a:t>
            </a:r>
            <a:endParaRPr lang="en-US" sz="1100" dirty="0">
              <a:solidFill>
                <a:srgbClr val="5B647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492240"/>
            <a:ext cx="73152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Re:Seat · 3차(최종) 프로젝트 발표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605" y="6492240"/>
            <a:ext cx="115416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931855"/>
            <a:ext cx="1118585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400" b="1" i="0" dirty="0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[Reservation] </a:t>
            </a:r>
            <a:r>
              <a:rPr sz="2400" b="1" i="0" dirty="0" err="1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2400" b="1" i="0" dirty="0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취소·재선점</a:t>
            </a:r>
            <a:r>
              <a:rPr sz="2400" b="1" i="0" dirty="0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</a:t>
            </a:r>
            <a:r>
              <a:rPr sz="2400" b="1" i="0" dirty="0" err="1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동시성</a:t>
            </a:r>
            <a:r>
              <a:rPr sz="2400" b="1" i="0" dirty="0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400" b="1" i="0" dirty="0" err="1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테스트</a:t>
            </a:r>
            <a:endParaRPr sz="2400" b="1" i="0" dirty="0">
              <a:solidFill>
                <a:srgbClr val="1D2D3D"/>
              </a:solidFill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1443859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취소·해제·재선점 흐름(T3-03)의 경합 지점 4곳을 실제 서비스 경로로 각각 검증했습니다.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829542"/>
            <a:ext cx="11185855" cy="460000"/>
          </a:xfrm>
          <a:prstGeom prst="rect">
            <a:avLst/>
          </a:prstGeom>
          <a:solidFill>
            <a:srgbClr val="F2F2F3"/>
          </a:solidFill>
          <a:ln w="12700">
            <a:solidFill>
              <a:srgbClr val="C7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1974903"/>
            <a:ext cx="1072865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●  </a:t>
            </a:r>
            <a:r>
              <a:rPr sz="1100" b="1" i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측정 완료 — ReservationService.cancel()·releaseHold(), SeatHoldFacade.holdSeats() 실제 경로 검증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241070"/>
              </p:ext>
            </p:extLst>
          </p:nvPr>
        </p:nvGraphicFramePr>
        <p:xfrm>
          <a:off x="502920" y="2563118"/>
          <a:ext cx="11185855" cy="203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5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648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검증</a:t>
                      </a:r>
                      <a:r>
                        <a:rPr sz="11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시나리오</a:t>
                      </a:r>
                      <a:endParaRPr sz="1100" b="1" dirty="0">
                        <a:solidFill>
                          <a:srgbClr val="9C2A2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동시 스레드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핵심 결과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판정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6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① 동일 예약 취소 중복 실행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30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releaseSeat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()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호출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1회만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실행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(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나머지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29건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멱등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리턴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✅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6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② 취소 직후 재선점 경합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10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재선점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성공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1건 · SEAT_ALREADY_HELD 9건 · over-booking 0건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✅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6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③ 취소·해제 동시 호출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2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도메인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가드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위반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(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이중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취소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) 0건 ·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좌석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정확히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1회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반환</a:t>
                      </a:r>
                      <a:endParaRPr sz="1100" b="0" dirty="0">
                        <a:solidFill>
                          <a:srgbClr val="1D2D3D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✅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6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④ REFUND_PENDING 구간 수량 초과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20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선점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성공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0건 · MAX_SEAT_COUNT_EXCEEDED 20건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전량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차단</a:t>
                      </a:r>
                      <a:endParaRPr sz="1100" b="0" dirty="0">
                        <a:solidFill>
                          <a:srgbClr val="1D2D3D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✅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02920" y="4942831"/>
            <a:ext cx="1118585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종합</a:t>
            </a:r>
            <a:r>
              <a:rPr sz="1400" b="1" i="0" dirty="0">
                <a:solidFill>
                  <a:srgbClr val="9C2A21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결론</a:t>
            </a:r>
            <a:endParaRPr sz="1400" b="1" i="0" dirty="0">
              <a:solidFill>
                <a:srgbClr val="9C2A21"/>
              </a:solidFill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5290964"/>
            <a:ext cx="11185855" cy="395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취소·재선점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동시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요청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수량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초과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0건, </a:t>
            </a: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불일치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0건을 </a:t>
            </a: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확인했습니다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. </a:t>
            </a:r>
            <a:endParaRPr lang="en-US" sz="1100" b="0" i="0" dirty="0">
              <a:solidFill>
                <a:srgbClr val="5B6472"/>
              </a:solidFill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l">
              <a:lnSpc>
                <a:spcPct val="122000"/>
              </a:lnSpc>
            </a:pP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REFUND_PENDING·REFUND_FAILED </a:t>
            </a: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구간의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동시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요청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케이스도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RefundPendingQuantityGuardConcurrencyTest로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포함해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검증을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100" b="0" i="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완료했습니다</a:t>
            </a:r>
            <a:r>
              <a:rPr sz="1100" b="0" i="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B2035CAB-13E2-1B06-66FC-2F3098B0FC9B}"/>
              </a:ext>
            </a:extLst>
          </p:cNvPr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6362A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05  </a:t>
            </a:r>
            <a:r>
              <a:rPr sz="1200" b="1">
                <a:solidFill>
                  <a:srgbClr val="1D2D3D"/>
                </a:solidFill>
              </a:rPr>
              <a:t>수행 결과 — 테스트·검증</a:t>
            </a: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58A9AED7-C818-3A46-FBE6-5558FA78CEB7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4A94A8DD-B3FB-04C8-B73F-A0B7AA968F38}"/>
              </a:ext>
            </a:extLst>
          </p:cNvPr>
          <p:cNvSpPr txBox="1"/>
          <p:nvPr/>
        </p:nvSpPr>
        <p:spPr>
          <a:xfrm>
            <a:off x="7071055" y="274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altLang="en-US" sz="1100" b="1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좌석 취소·재선점</a:t>
            </a:r>
            <a:r>
              <a:rPr lang="en-US" altLang="ko-KR" sz="1100" b="1" dirty="0">
                <a:solidFill>
                  <a:srgbClr val="1D2D3D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·</a:t>
            </a:r>
            <a:r>
              <a:rPr lang="en-US" sz="1100" dirty="0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1100" dirty="0" err="1">
                <a:solidFill>
                  <a:srgbClr val="5B647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재선점</a:t>
            </a:r>
            <a:endParaRPr lang="en-US" sz="1100" dirty="0">
              <a:solidFill>
                <a:srgbClr val="5B6472"/>
              </a:solidFill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2007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C6362A"/>
                </a:solidFill>
              </a:rPr>
              <a:t>05  </a:t>
            </a:r>
            <a:r>
              <a:rPr sz="1200" b="1">
                <a:solidFill>
                  <a:srgbClr val="1D2D3D"/>
                </a:solidFill>
              </a:rPr>
              <a:t>수행 결과 — 테스트·검증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71055" y="349701"/>
            <a:ext cx="46177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5B6472"/>
                </a:solidFill>
              </a:rPr>
              <a:t>Reservation k6 · 락 3종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54853"/>
            <a:ext cx="73152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472"/>
                </a:solidFill>
              </a:rPr>
              <a:t>Re:Seat · 3차(최종) 프로젝트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82283"/>
            <a:ext cx="1118585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200" b="1" i="0" dirty="0">
                <a:solidFill>
                  <a:srgbClr val="1D2D3D"/>
                </a:solidFill>
              </a:rPr>
              <a:t>[</a:t>
            </a:r>
            <a:r>
              <a:rPr sz="2200" b="1" i="0" dirty="0">
                <a:solidFill>
                  <a:srgbClr val="1D2D3D"/>
                </a:solidFill>
              </a:rPr>
              <a:t>Reservation</a:t>
            </a:r>
            <a:r>
              <a:rPr lang="en-US" sz="2200" b="1" i="0" dirty="0">
                <a:solidFill>
                  <a:srgbClr val="1D2D3D"/>
                </a:solidFill>
              </a:rPr>
              <a:t>]</a:t>
            </a:r>
            <a:r>
              <a:rPr sz="2200" b="1" i="0" dirty="0">
                <a:solidFill>
                  <a:srgbClr val="1D2D3D"/>
                </a:solidFill>
              </a:rPr>
              <a:t> k6 </a:t>
            </a:r>
            <a:r>
              <a:rPr sz="2200" b="1" i="0" dirty="0" err="1">
                <a:solidFill>
                  <a:srgbClr val="1D2D3D"/>
                </a:solidFill>
              </a:rPr>
              <a:t>결과</a:t>
            </a:r>
            <a:r>
              <a:rPr sz="2200" b="1" i="0" dirty="0">
                <a:solidFill>
                  <a:srgbClr val="1D2D3D"/>
                </a:solidFill>
              </a:rPr>
              <a:t> &amp; 락 </a:t>
            </a:r>
            <a:r>
              <a:rPr sz="2200" b="1" i="0" dirty="0" err="1">
                <a:solidFill>
                  <a:srgbClr val="1D2D3D"/>
                </a:solidFill>
              </a:rPr>
              <a:t>전략</a:t>
            </a:r>
            <a:r>
              <a:rPr sz="2200" b="1" i="0" dirty="0">
                <a:solidFill>
                  <a:srgbClr val="1D2D3D"/>
                </a:solidFill>
              </a:rPr>
              <a:t> 3종 </a:t>
            </a:r>
            <a:r>
              <a:rPr sz="2200" b="1" i="0" dirty="0" err="1">
                <a:solidFill>
                  <a:srgbClr val="1D2D3D"/>
                </a:solidFill>
              </a:rPr>
              <a:t>비교</a:t>
            </a:r>
            <a:endParaRPr sz="2200" b="1" i="0" dirty="0">
              <a:solidFill>
                <a:srgbClr val="1D2D3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443859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472"/>
                </a:solidFill>
              </a:rPr>
              <a:t>분산락(Redisson)·비관적 락(SELECT FOR UPDATE)·낙관적 락(@Version+재시도)을 동일 시드·동일 시나리오로 비교합니다.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3576218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67183"/>
            <a:ext cx="311901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현재 채택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03120"/>
            <a:ext cx="1500000" cy="274320"/>
          </a:xfrm>
          <a:prstGeom prst="rect">
            <a:avLst/>
          </a:prstGeom>
          <a:solidFill>
            <a:srgbClr val="C6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67183"/>
            <a:ext cx="140856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현재 채택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5326"/>
            <a:ext cx="311901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D2D3D"/>
                </a:solidFill>
              </a:rPr>
              <a:t>분산락</a:t>
            </a:r>
            <a:r>
              <a:rPr sz="1400" b="1" i="0" dirty="0">
                <a:solidFill>
                  <a:srgbClr val="1D2D3D"/>
                </a:solidFill>
              </a:rPr>
              <a:t> (</a:t>
            </a:r>
            <a:r>
              <a:rPr sz="1400" b="1" i="0" dirty="0" err="1">
                <a:solidFill>
                  <a:srgbClr val="1D2D3D"/>
                </a:solidFill>
              </a:rPr>
              <a:t>Redisson</a:t>
            </a:r>
            <a:r>
              <a:rPr sz="1400" b="1" i="0" dirty="0">
                <a:solidFill>
                  <a:srgbClr val="1D2D3D"/>
                </a:solidFill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83825"/>
            <a:ext cx="3119018" cy="196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 err="1">
                <a:solidFill>
                  <a:srgbClr val="9C2A21"/>
                </a:solidFill>
              </a:rPr>
              <a:t>장점</a:t>
            </a:r>
            <a:r>
              <a:rPr sz="1200" b="1" i="0" dirty="0">
                <a:solidFill>
                  <a:srgbClr val="9C2A21"/>
                </a:solidFill>
              </a:rPr>
              <a:t>  </a:t>
            </a:r>
            <a:r>
              <a:rPr sz="1200" b="0" i="0" dirty="0" err="1">
                <a:solidFill>
                  <a:srgbClr val="5B6472"/>
                </a:solidFill>
              </a:rPr>
              <a:t>여러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서버에서도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정합성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보장</a:t>
            </a:r>
            <a:endParaRPr sz="1200" b="0" i="0" dirty="0">
              <a:solidFill>
                <a:srgbClr val="5B647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19" y="3313648"/>
            <a:ext cx="3119018" cy="196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 err="1">
                <a:solidFill>
                  <a:srgbClr val="9C2A21"/>
                </a:solidFill>
              </a:rPr>
              <a:t>단점</a:t>
            </a:r>
            <a:r>
              <a:rPr sz="1200" b="1" i="0" dirty="0">
                <a:solidFill>
                  <a:srgbClr val="9C2A21"/>
                </a:solidFill>
              </a:rPr>
              <a:t>  </a:t>
            </a:r>
            <a:r>
              <a:rPr sz="1200" b="0" i="0" dirty="0" err="1">
                <a:solidFill>
                  <a:srgbClr val="5B6472"/>
                </a:solidFill>
              </a:rPr>
              <a:t>Redis가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단일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장애점</a:t>
            </a:r>
            <a:endParaRPr sz="1200" b="0" i="0" dirty="0">
              <a:solidFill>
                <a:srgbClr val="5B6472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07738" y="1920240"/>
            <a:ext cx="3576218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6338" y="2167183"/>
            <a:ext cx="311901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비교 대상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0618" y="2103120"/>
            <a:ext cx="1150000" cy="274320"/>
          </a:xfrm>
          <a:prstGeom prst="rect">
            <a:avLst/>
          </a:prstGeom>
          <a:solidFill>
            <a:srgbClr val="6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36338" y="2167183"/>
            <a:ext cx="105856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비교 대상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338" y="2565326"/>
            <a:ext cx="311901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D2D3D"/>
                </a:solidFill>
              </a:rPr>
              <a:t>비관적</a:t>
            </a:r>
            <a:r>
              <a:rPr sz="1400" b="1" i="0" dirty="0">
                <a:solidFill>
                  <a:srgbClr val="1D2D3D"/>
                </a:solidFill>
              </a:rPr>
              <a:t> 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338" y="2985954"/>
            <a:ext cx="3119018" cy="196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 err="1">
                <a:solidFill>
                  <a:srgbClr val="9C2A21"/>
                </a:solidFill>
              </a:rPr>
              <a:t>장점</a:t>
            </a:r>
            <a:r>
              <a:rPr sz="1200" b="1" i="0" dirty="0">
                <a:solidFill>
                  <a:srgbClr val="9C2A21"/>
                </a:solidFill>
              </a:rPr>
              <a:t>  </a:t>
            </a:r>
            <a:r>
              <a:rPr sz="1200" b="0" i="0" dirty="0" err="1">
                <a:solidFill>
                  <a:srgbClr val="5B6472"/>
                </a:solidFill>
              </a:rPr>
              <a:t>구현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단순</a:t>
            </a:r>
            <a:r>
              <a:rPr sz="1200" b="0" i="0" dirty="0">
                <a:solidFill>
                  <a:srgbClr val="5B6472"/>
                </a:solidFill>
              </a:rPr>
              <a:t>, </a:t>
            </a:r>
            <a:r>
              <a:rPr sz="1200" b="0" i="0" dirty="0" err="1">
                <a:solidFill>
                  <a:srgbClr val="5B6472"/>
                </a:solidFill>
              </a:rPr>
              <a:t>별도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인프라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불필요</a:t>
            </a:r>
            <a:endParaRPr sz="1200" b="0" i="0" dirty="0">
              <a:solidFill>
                <a:srgbClr val="5B647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36338" y="3307907"/>
            <a:ext cx="3119018" cy="196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 err="1">
                <a:solidFill>
                  <a:srgbClr val="9C2A21"/>
                </a:solidFill>
              </a:rPr>
              <a:t>단점</a:t>
            </a:r>
            <a:r>
              <a:rPr sz="1200" b="1" i="0" dirty="0">
                <a:solidFill>
                  <a:srgbClr val="9C2A21"/>
                </a:solidFill>
              </a:rPr>
              <a:t>  </a:t>
            </a:r>
            <a:r>
              <a:rPr sz="1200" b="0" i="0" dirty="0">
                <a:solidFill>
                  <a:srgbClr val="5B6472"/>
                </a:solidFill>
              </a:rPr>
              <a:t>DB </a:t>
            </a:r>
            <a:r>
              <a:rPr sz="1200" b="0" i="0" dirty="0" err="1">
                <a:solidFill>
                  <a:srgbClr val="5B6472"/>
                </a:solidFill>
              </a:rPr>
              <a:t>커넥션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점유시간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증가</a:t>
            </a:r>
            <a:endParaRPr sz="1200" b="0" i="0" dirty="0">
              <a:solidFill>
                <a:srgbClr val="5B647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112556" y="1920240"/>
            <a:ext cx="3576218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1156" y="2167183"/>
            <a:ext cx="311901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비교 대상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95436" y="2103120"/>
            <a:ext cx="1150000" cy="274320"/>
          </a:xfrm>
          <a:prstGeom prst="rect">
            <a:avLst/>
          </a:prstGeom>
          <a:solidFill>
            <a:srgbClr val="6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41156" y="2167183"/>
            <a:ext cx="105856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비교 대상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1156" y="2565326"/>
            <a:ext cx="311901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D2D3D"/>
                </a:solidFill>
              </a:rPr>
              <a:t>낙관적</a:t>
            </a:r>
            <a:r>
              <a:rPr sz="1400" b="1" i="0" dirty="0">
                <a:solidFill>
                  <a:srgbClr val="1D2D3D"/>
                </a:solidFill>
              </a:rPr>
              <a:t> 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1156" y="2978536"/>
            <a:ext cx="3119018" cy="196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 err="1">
                <a:solidFill>
                  <a:srgbClr val="9C2A21"/>
                </a:solidFill>
              </a:rPr>
              <a:t>장점</a:t>
            </a:r>
            <a:r>
              <a:rPr sz="1200" b="1" i="0" dirty="0">
                <a:solidFill>
                  <a:srgbClr val="9C2A21"/>
                </a:solidFill>
              </a:rPr>
              <a:t>  </a:t>
            </a:r>
            <a:r>
              <a:rPr sz="1200" b="0" i="0" dirty="0" err="1">
                <a:solidFill>
                  <a:srgbClr val="5B6472"/>
                </a:solidFill>
              </a:rPr>
              <a:t>경합이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적으면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가장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빠름</a:t>
            </a:r>
            <a:endParaRPr sz="1200" b="0" i="0" dirty="0">
              <a:solidFill>
                <a:srgbClr val="5B647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41156" y="3325340"/>
            <a:ext cx="3119018" cy="196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 err="1">
                <a:solidFill>
                  <a:srgbClr val="9C2A21"/>
                </a:solidFill>
              </a:rPr>
              <a:t>단점</a:t>
            </a:r>
            <a:r>
              <a:rPr sz="1200" b="1" i="0" dirty="0">
                <a:solidFill>
                  <a:srgbClr val="9C2A21"/>
                </a:solidFill>
              </a:rPr>
              <a:t>  </a:t>
            </a:r>
            <a:r>
              <a:rPr sz="1200" b="0" i="0" dirty="0" err="1">
                <a:solidFill>
                  <a:srgbClr val="5B6472"/>
                </a:solidFill>
              </a:rPr>
              <a:t>경합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폭증</a:t>
            </a:r>
            <a:r>
              <a:rPr sz="1200" b="0" i="0" dirty="0">
                <a:solidFill>
                  <a:srgbClr val="5B6472"/>
                </a:solidFill>
              </a:rPr>
              <a:t> 시 </a:t>
            </a:r>
            <a:r>
              <a:rPr sz="1200" b="0" i="0" dirty="0" err="1">
                <a:solidFill>
                  <a:srgbClr val="5B6472"/>
                </a:solidFill>
              </a:rPr>
              <a:t>재시도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비용</a:t>
            </a:r>
            <a:r>
              <a:rPr sz="1200" b="0" i="0" dirty="0">
                <a:solidFill>
                  <a:srgbClr val="5B6472"/>
                </a:solidFill>
              </a:rPr>
              <a:t> </a:t>
            </a:r>
            <a:r>
              <a:rPr sz="1200" b="0" i="0" dirty="0" err="1">
                <a:solidFill>
                  <a:srgbClr val="5B6472"/>
                </a:solidFill>
              </a:rPr>
              <a:t>급증</a:t>
            </a:r>
            <a:endParaRPr sz="1200" b="0" i="0" dirty="0">
              <a:solidFill>
                <a:srgbClr val="5B6472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554123" y="6492240"/>
            <a:ext cx="134652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</a:rPr>
              <a:t>33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19" y="3898603"/>
            <a:ext cx="11185855" cy="420000"/>
          </a:xfrm>
          <a:prstGeom prst="rect">
            <a:avLst/>
          </a:prstGeom>
          <a:solidFill>
            <a:srgbClr val="F2F2F3"/>
          </a:solidFill>
          <a:ln w="12700">
            <a:solidFill>
              <a:srgbClr val="C7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19" y="4023964"/>
            <a:ext cx="1072865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D2D3D"/>
                </a:solidFill>
              </a:rPr>
              <a:t>●  </a:t>
            </a:r>
            <a:r>
              <a:rPr sz="1100" b="1" i="0">
                <a:solidFill>
                  <a:srgbClr val="5B6472"/>
                </a:solidFill>
              </a:rPr>
              <a:t>측정 완료 — 시나리오 A·B 각 1회, 3전략 정합성 100% 동일 확인 · 성능 비교는 반복 측정 필요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19820"/>
              </p:ext>
            </p:extLst>
          </p:nvPr>
        </p:nvGraphicFramePr>
        <p:xfrm>
          <a:off x="502920" y="4496966"/>
          <a:ext cx="11185855" cy="1780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5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5175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9C2A21"/>
                          </a:solidFill>
                          <a:latin typeface="+mn-lt"/>
                        </a:rPr>
                        <a:t>전략</a:t>
                      </a:r>
                      <a:endParaRPr sz="1100" b="1" dirty="0">
                        <a:solidFill>
                          <a:srgbClr val="9C2A21"/>
                        </a:solidFill>
                        <a:latin typeface="+mn-lt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</a:rPr>
                        <a:t>A (성공/차단)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</a:rPr>
                        <a:t>A p95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</a:rPr>
                        <a:t>B (성공/50)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+mn-lt"/>
                        </a:rPr>
                        <a:t>B p95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175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</a:rPr>
                        <a:t>분산락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 (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+mn-lt"/>
                        </a:rPr>
                        <a:t>Redisson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1 / 49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1455.6ms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50 / 50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D2D3D"/>
                          </a:solidFill>
                          <a:latin typeface="+mn-lt"/>
                        </a:rPr>
                        <a:t>810.5ms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1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비관적 락 (SFU)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1 / 49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1348.4ms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50 / 50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1526.7ms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17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낙관적 락 (@Version)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+mn-lt"/>
                        </a:rPr>
                        <a:t>1 / 49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D2D3D"/>
                          </a:solidFill>
                          <a:latin typeface="+mn-lt"/>
                        </a:rPr>
                        <a:t>1112.1ms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50 / 50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+mn-lt"/>
                        </a:rPr>
                        <a:t>1645.7ms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Shape 0">
            <a:extLst>
              <a:ext uri="{FF2B5EF4-FFF2-40B4-BE49-F238E27FC236}">
                <a16:creationId xmlns:a16="http://schemas.microsoft.com/office/drawing/2014/main" id="{0DD03223-A1BE-04CA-C348-809721F09182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97399" y="929165"/>
            <a:ext cx="1118585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[Payment] </a:t>
            </a:r>
            <a:r>
              <a:rPr lang="ko-KR" altLang="en-US" sz="2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 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— </a:t>
            </a:r>
            <a:r>
              <a:rPr lang="ko-KR" altLang="en-US" sz="2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성능 테스트 정리 </a:t>
            </a:r>
            <a:r>
              <a:rPr lang="en-US" altLang="ko-KR" sz="2400" b="1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</a:t>
            </a:r>
            <a:r>
              <a:rPr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k6</a:t>
            </a:r>
            <a:r>
              <a:rPr lang="en-US" sz="2400" b="1" i="0" dirty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</a:t>
            </a:r>
            <a:endParaRPr sz="2400" b="1" i="0" dirty="0">
              <a:solidFill>
                <a:srgbClr val="1D2D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1408127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서로 다른 주문의 신규 결제 동시 생성(A)과 동일 멱등키 반복 요청(B), 두 시나리오로 나눠 측정했습니다.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7398" y="1757025"/>
            <a:ext cx="11185855" cy="460000"/>
          </a:xfrm>
          <a:prstGeom prst="rect">
            <a:avLst/>
          </a:prstGeom>
          <a:solidFill>
            <a:srgbClr val="F2F2F3"/>
          </a:solidFill>
          <a:ln w="12700">
            <a:solidFill>
              <a:srgbClr val="C7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5998" y="1902386"/>
            <a:ext cx="1072865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D2D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●  </a:t>
            </a:r>
            <a:r>
              <a:rPr sz="1100" b="1" i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측정 완료 — POST /api/v1/payments · 시나리오 A(동시 신규 결제 생성) · 시나리오 B(동일 멱등키 재요청)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255492"/>
              </p:ext>
            </p:extLst>
          </p:nvPr>
        </p:nvGraphicFramePr>
        <p:xfrm>
          <a:off x="5845213" y="2410730"/>
          <a:ext cx="5838040" cy="1214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4702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시나리오</a:t>
                      </a:r>
                      <a:endParaRPr sz="1100" b="1" dirty="0">
                        <a:solidFill>
                          <a:srgbClr val="9C2A2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VU · </a:t>
                      </a:r>
                      <a:r>
                        <a:rPr sz="1100" b="1" dirty="0" err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요청</a:t>
                      </a:r>
                      <a:r>
                        <a:rPr sz="11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수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성공률</a:t>
                      </a:r>
                      <a:endParaRPr sz="1100" b="1" dirty="0">
                        <a:solidFill>
                          <a:srgbClr val="9C2A2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p50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p90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p99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D2D3D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702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A ·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동시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신규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결제</a:t>
                      </a:r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생성</a:t>
                      </a:r>
                      <a:endParaRPr sz="1100" b="0" dirty="0">
                        <a:solidFill>
                          <a:srgbClr val="1D2D3D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100 · 100건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64%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380ms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444ms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455ms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70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B · 동일 멱등키 재요청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100 · 1,000건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9C2A2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100%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39ms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107ms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D2D3D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190ms</a:t>
                      </a: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890314" y="3867509"/>
            <a:ext cx="567206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핵심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발견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—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멱등키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유니크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인덱스</a:t>
            </a:r>
            <a:r>
              <a:rPr sz="1400" b="1" i="0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갭 락 </a:t>
            </a:r>
            <a:r>
              <a:rPr sz="1400" b="1" i="0" dirty="0" err="1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데드락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90314" y="4249068"/>
            <a:ext cx="5733866" cy="868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다른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신규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100건을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동시에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생성하자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성공률이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64%로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떨어졌습니다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존재하지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않는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멱등키를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SELECT FOR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UPDATE로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조회하면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MySQL이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uk_payments_idempotency_key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인덱스에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갭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락을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거는데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여러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트랜잭션이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같은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구간을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잠근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채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INSERT를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시도하면서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순환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대기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데드락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)가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발생해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한쪽이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강제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롤백됐습니다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7399" y="2362386"/>
            <a:ext cx="5208920" cy="411613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rcRect t="16930" b="1249"/>
          <a:stretch>
            <a:fillRect/>
          </a:stretch>
        </p:blipFill>
        <p:spPr>
          <a:xfrm>
            <a:off x="634028" y="2446656"/>
            <a:ext cx="4935661" cy="3947598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EB74F314-090F-4062-C66D-A3D7CE725A31}"/>
              </a:ext>
            </a:extLst>
          </p:cNvPr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6362A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05  </a:t>
            </a:r>
            <a:r>
              <a:rPr sz="1200" b="1">
                <a:solidFill>
                  <a:srgbClr val="1D2D3D"/>
                </a:solidFill>
                <a:latin typeface="Pretendard Variable"/>
              </a:rPr>
              <a:t>수행 결과 — 테스트·검증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093299D7-371D-A1D7-8F00-4E10219E33C5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1103E540-5319-5F81-F29C-0A03DF168F6C}"/>
              </a:ext>
            </a:extLst>
          </p:cNvPr>
          <p:cNvSpPr txBox="1"/>
          <p:nvPr/>
        </p:nvSpPr>
        <p:spPr>
          <a:xfrm>
            <a:off x="7071055" y="274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Payment · k6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7CFB0A-C26F-70E3-CE2E-71ED96B99A47}"/>
              </a:ext>
            </a:extLst>
          </p:cNvPr>
          <p:cNvSpPr txBox="1"/>
          <p:nvPr/>
        </p:nvSpPr>
        <p:spPr>
          <a:xfrm>
            <a:off x="5890314" y="5307426"/>
            <a:ext cx="57929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400" b="1" dirty="0">
                <a:solidFill>
                  <a:srgbClr val="9C2A2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후속 조치</a:t>
            </a:r>
            <a:endParaRPr sz="1400" b="1" i="0" dirty="0">
              <a:solidFill>
                <a:srgbClr val="9C2A2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86C024-17A2-65B8-F520-3A77755E3594}"/>
              </a:ext>
            </a:extLst>
          </p:cNvPr>
          <p:cNvSpPr txBox="1"/>
          <p:nvPr/>
        </p:nvSpPr>
        <p:spPr>
          <a:xfrm>
            <a:off x="5890314" y="5639657"/>
            <a:ext cx="5733866" cy="6466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생성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트랜잭션만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READ_COMMITTED로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낮추는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방안을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검토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중입니다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SELECT FOR UPDATE 행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잠금·유니크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제약·주문별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Redis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분산락이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이미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이중으로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정합성을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지키고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있어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br>
              <a:rPr lang="en-US"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격리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수준을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낮춰도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데이터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안전성은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유지될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것으로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200" b="0" i="0" dirty="0" err="1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보입니다</a:t>
            </a:r>
            <a:r>
              <a:rPr sz="1200" b="0" i="0" dirty="0">
                <a:solidFill>
                  <a:srgbClr val="5B647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5B6472"/>
                </a:solidFill>
                <a:latin typeface="Pretendard Variable"/>
              </a:rPr>
              <a:t>Re:Seat · 3차(최종) 프로젝트 발표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5B6472"/>
                </a:solidFill>
                <a:latin typeface="Pretendard Variable"/>
              </a:rPr>
              <a:t>33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63477"/>
            <a:ext cx="12070080" cy="1587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71304"/>
              </a:lnSpc>
            </a:pPr>
            <a:r>
              <a:rPr lang="en-US" sz="15001" b="1" kern="0" spc="-450" dirty="0">
                <a:solidFill>
                  <a:srgbClr val="94BCE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</a:t>
            </a:r>
            <a:endParaRPr lang="en-US" sz="15001" dirty="0"/>
          </a:p>
        </p:txBody>
      </p:sp>
      <p:sp>
        <p:nvSpPr>
          <p:cNvPr id="3" name="Text 1"/>
          <p:cNvSpPr/>
          <p:nvPr/>
        </p:nvSpPr>
        <p:spPr>
          <a:xfrm>
            <a:off x="609600" y="3577977"/>
            <a:ext cx="12070080" cy="76502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97473"/>
              </a:lnSpc>
            </a:pPr>
            <a:r>
              <a:rPr lang="en-US" sz="5200" b="1" kern="0" spc="-52" dirty="0">
                <a:solidFill>
                  <a:srgbClr val="F2F2F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자체 평가 의견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609600" y="4495404"/>
            <a:ext cx="1778000" cy="6350"/>
          </a:xfrm>
          <a:prstGeom prst="rect">
            <a:avLst/>
          </a:prstGeom>
          <a:solidFill>
            <a:srgbClr val="749DC4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5" name="Text 3"/>
          <p:cNvSpPr/>
          <p:nvPr/>
        </p:nvSpPr>
        <p:spPr>
          <a:xfrm>
            <a:off x="609600" y="4679553"/>
            <a:ext cx="12070080" cy="3403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34054"/>
              </a:lnSpc>
            </a:pPr>
            <a:r>
              <a:rPr lang="en-US" sz="1600" dirty="0">
                <a:solidFill>
                  <a:srgbClr val="B5D9F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기획 의도와의 부합 정도 · 달성도 · 완성도 · 배운 점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  자체 </a:t>
            </a:r>
            <a:r>
              <a:rPr lang="en-US" sz="1200" b="1" dirty="0" err="1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평가</a:t>
            </a:r>
            <a:r>
              <a:rPr lang="en-US" sz="1200" b="1" dirty="0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b="1" dirty="0" err="1">
                <a:solidFill>
                  <a:srgbClr val="C636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071055" y="274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잘한 점 · 아쉬운 점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56472" y="950976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자체 </a:t>
            </a:r>
            <a:r>
              <a:rPr lang="en-US" sz="2500" b="1" dirty="0" err="1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평가</a:t>
            </a:r>
            <a:r>
              <a:rPr lang="en-US" sz="25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의</a:t>
            </a:r>
            <a:r>
              <a:rPr lang="ko-KR" altLang="en-US" sz="2500" b="1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견</a:t>
            </a:r>
            <a:endParaRPr lang="en-US" sz="2500" dirty="0">
              <a:solidFill>
                <a:srgbClr val="1D2D3D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65285" y="169358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4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54577" y="1664208"/>
            <a:ext cx="8828457" cy="2258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Git Flow, merge 정책, PR·이슈 템플릿을 초반부터 합의·준수해 develop 히스토리를 깨끗하게 유지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설계 판단의 배경과 트레이드오프를 문서로 남겨 이후 코드 이해와 더블 체크 시간 단축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모니터링(T3-10)을 다른 기능보다 먼저 연결해 이후 변경의 비교 기준선 확보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락 전략 선택을 감이 아니라 비교 실험 데이터로 근거화, 동시성 테스트를 CI에 상시 편입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취소 이력을 PG 호출 전에 선기록해 이중 환불을 구조적으로 차단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티켓 상태를 6종으로 세분화해 환불 중·환불 실패를 명확히 구분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5285" y="419784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2A2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아쉬운 점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54577" y="4260241"/>
            <a:ext cx="10287750" cy="169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결제→주문→좌석 HOLD처럼 깊게 연결된 도메인의 인터페이스 계약을 초기에 확정하지 못해 통합 단계에서 흐름이 끊기는 상황이 반복됨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리뷰 타이밍을 정하지 않아 먼저 본 팀원이 승인·머지하는 패턴이 반복되며 다른 팀원의 리뷰 기회가 줄어듦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동시성 테스트가 방치된 원인을 사후에야 파악해 조기 발견 체계가 부족했음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락 전략 3종 비교를 일정 후반에 몰아서 진행해 반복 측정 여유가 적었음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D2D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혼잡도·마이페이지 등 3차 신규 기능의 자체 부하 테스트는 아직 진행하지 못함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Re:Seat · 3차(최종) 프로젝트 발표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34</a:t>
            </a:r>
            <a:endParaRPr lang="en-US" sz="850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F7FC1531-DD25-C4FA-B195-C989BDDD3476}"/>
              </a:ext>
            </a:extLst>
          </p:cNvPr>
          <p:cNvSpPr/>
          <p:nvPr/>
        </p:nvSpPr>
        <p:spPr>
          <a:xfrm>
            <a:off x="438327" y="776859"/>
            <a:ext cx="1130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D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2F2F3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Re:Seat</a:t>
            </a:r>
            <a:endParaRPr lang="en-US" sz="6000" dirty="0"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3403517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7D2DE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감사합니다</a:t>
            </a:r>
            <a:endParaRPr lang="en-US" sz="2400" dirty="0"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416127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6362A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Q &amp; A</a:t>
            </a:r>
            <a:endParaRPr lang="en-US" dirty="0"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B6C2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TEAM 3조 · Re:Seat</a:t>
            </a:r>
            <a:endParaRPr lang="en-US" sz="1100" dirty="0"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6"/>
                </a:solidFill>
                <a:ea typeface="Pretendard Variable" panose="02000003000000020004" pitchFamily="2" charset="-127"/>
                <a:cs typeface="Pretendard Variable" panose="02000003000000020004" pitchFamily="2" charset="-127"/>
              </a:rPr>
              <a:t>github.com/Back-To-Back-team-3/re-seat   ·   re-seat.netlify.app</a:t>
            </a:r>
            <a:endParaRPr lang="en-US" sz="1000" dirty="0"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Pretendard Variable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Pretendard Variable"/>
        <a:font script="Hebr" typeface="Pretendard Variable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retendard Variable"/>
        <a:font script="Uigh" typeface="Microsoft Uighur"/>
        <a:font script="Geor" typeface="Sylfaen"/>
        <a:font script="Armn" typeface="Pretendard Variable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Pretendard Variable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Pretendard Variable"/>
        <a:font script="Hebr" typeface="Pretendard Variable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retendard Variable"/>
        <a:font script="Uigh" typeface="Microsoft Uighur"/>
        <a:font script="Geor" typeface="Sylfaen"/>
        <a:font script="Armn" typeface="Pretendard Variable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6260</Words>
  <Application>Microsoft Office PowerPoint</Application>
  <PresentationFormat>와이드스크린</PresentationFormat>
  <Paragraphs>920</Paragraphs>
  <Slides>44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6" baseType="lpstr">
      <vt:lpstr>Pretendard Variable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Re:Seat 3차(최종) 프로젝트 발표</dc:title>
  <dc:subject>PptxGenJS Presentation</dc:subject>
  <dc:creator>Re:Seat Team 3</dc:creator>
  <cp:lastModifiedBy>C C</cp:lastModifiedBy>
  <cp:revision>36</cp:revision>
  <dcterms:created xsi:type="dcterms:W3CDTF">2026-09-13T20:28:54Z</dcterms:created>
  <dcterms:modified xsi:type="dcterms:W3CDTF">2026-09-19T00:33:53Z</dcterms:modified>
</cp:coreProperties>
</file>